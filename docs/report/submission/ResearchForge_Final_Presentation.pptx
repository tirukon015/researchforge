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5"/>
    <p:sldMasterId id="2147483676" r:id="rId6"/>
  </p:sldMasterIdLst>
  <p:notesMasterIdLst>
    <p:notesMasterId r:id="rId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</p:sldIdLst>
  <p:sldSz cy="5143500" cx="9144000"/>
  <p:notesSz cx="6858000" cy="9144000"/>
  <p:embeddedFontLst>
    <p:embeddedFont>
      <p:font typeface="Audiowide"/>
      <p:regular r:id="rId56"/>
    </p:embeddedFont>
    <p:embeddedFont>
      <p:font typeface="Proxima Nova"/>
      <p:regular r:id="rId57"/>
      <p:bold r:id="rId58"/>
      <p:italic r:id="rId59"/>
      <p:boldItalic r:id="rId60"/>
    </p:embeddedFont>
    <p:embeddedFont>
      <p:font typeface="Roboto Medium"/>
      <p:regular r:id="rId61"/>
      <p:bold r:id="rId62"/>
      <p:italic r:id="rId63"/>
      <p:boldItalic r:id="rId64"/>
    </p:embeddedFont>
    <p:embeddedFont>
      <p:font typeface="Amatic SC"/>
      <p:regular r:id="rId65"/>
      <p:bold r:id="rId66"/>
    </p:embeddedFont>
    <p:embeddedFont>
      <p:font typeface="Anaheim"/>
      <p:regular r:id="rId67"/>
      <p:bold r:id="rId68"/>
    </p:embeddedFont>
    <p:embeddedFont>
      <p:font typeface="Proxima Nova Semibold"/>
      <p:regular r:id="rId69"/>
      <p:bold r:id="rId70"/>
      <p:boldItalic r:id="rId71"/>
    </p:embeddedFont>
    <p:embeddedFont>
      <p:font typeface="Karla"/>
      <p:regular r:id="rId72"/>
      <p:bold r:id="rId73"/>
      <p:italic r:id="rId74"/>
      <p:boldItalic r:id="rId7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1C938D-0C6E-4217-97B5-CAE369AEE5C4}">
  <a:tblStyle styleId="{F41C938D-0C6E-4217-97B5-CAE369AEE5C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56" Type="http://schemas.openxmlformats.org/officeDocument/2006/relationships/font" Target="fonts/Audiowide-regular.fntdata"/><Relationship Id="rId57" Type="http://schemas.openxmlformats.org/officeDocument/2006/relationships/font" Target="fonts/ProximaNova-regular.fntdata"/><Relationship Id="rId58" Type="http://schemas.openxmlformats.org/officeDocument/2006/relationships/font" Target="fonts/ProximaNova-bold.fntdata"/><Relationship Id="rId59" Type="http://schemas.openxmlformats.org/officeDocument/2006/relationships/font" Target="fonts/ProximaNova-italic.fntdata"/><Relationship Id="rId60" Type="http://schemas.openxmlformats.org/officeDocument/2006/relationships/font" Target="fonts/ProximaNova-boldItalic.fntdata"/><Relationship Id="rId61" Type="http://schemas.openxmlformats.org/officeDocument/2006/relationships/font" Target="fonts/RobotoMedium-regular.fntdata"/><Relationship Id="rId62" Type="http://schemas.openxmlformats.org/officeDocument/2006/relationships/font" Target="fonts/RobotoMedium-bold.fntdata"/><Relationship Id="rId63" Type="http://schemas.openxmlformats.org/officeDocument/2006/relationships/font" Target="fonts/RobotoMedium-italic.fntdata"/><Relationship Id="rId64" Type="http://schemas.openxmlformats.org/officeDocument/2006/relationships/font" Target="fonts/RobotoMedium-boldItalic.fntdata"/><Relationship Id="rId65" Type="http://schemas.openxmlformats.org/officeDocument/2006/relationships/font" Target="fonts/AmaticSC-regular.fntdata"/><Relationship Id="rId66" Type="http://schemas.openxmlformats.org/officeDocument/2006/relationships/font" Target="fonts/AmaticSC-bold.fntdata"/><Relationship Id="rId67" Type="http://schemas.openxmlformats.org/officeDocument/2006/relationships/font" Target="fonts/Anaheim-regular.fntdata"/><Relationship Id="rId68" Type="http://schemas.openxmlformats.org/officeDocument/2006/relationships/font" Target="fonts/Anaheim-bold.fntdata"/><Relationship Id="rId69" Type="http://schemas.openxmlformats.org/officeDocument/2006/relationships/font" Target="fonts/ProximaNovaSemibold-regular.fntdata"/><Relationship Id="rId70" Type="http://schemas.openxmlformats.org/officeDocument/2006/relationships/font" Target="fonts/ProximaNovaSemibold-bold.fntdata"/><Relationship Id="rId71" Type="http://schemas.openxmlformats.org/officeDocument/2006/relationships/font" Target="fonts/ProximaNovaSemibold-boldItalic.fntdata"/><Relationship Id="rId72" Type="http://schemas.openxmlformats.org/officeDocument/2006/relationships/font" Target="fonts/Karla-regular.fntdata"/><Relationship Id="rId73" Type="http://schemas.openxmlformats.org/officeDocument/2006/relationships/font" Target="fonts/Karla-bold.fntdata"/><Relationship Id="rId74" Type="http://schemas.openxmlformats.org/officeDocument/2006/relationships/font" Target="fonts/Karla-italic.fntdata"/><Relationship Id="rId75" Type="http://schemas.openxmlformats.org/officeDocument/2006/relationships/font" Target="fonts/Karl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1625850" y="1317528"/>
            <a:ext cx="5892300" cy="23583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500">
                <a:latin typeface="Audiowide"/>
                <a:ea typeface="Audiowide"/>
                <a:cs typeface="Audiowide"/>
                <a:sym typeface="Audiowid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625850" y="3778500"/>
            <a:ext cx="5892300" cy="473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1011050" y="-447675"/>
            <a:ext cx="5892301" cy="3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4261050" y="1962150"/>
            <a:ext cx="5892301" cy="364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3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 txBox="1"/>
          <p:nvPr>
            <p:ph type="title"/>
          </p:nvPr>
        </p:nvSpPr>
        <p:spPr>
          <a:xfrm>
            <a:off x="4491888" y="1682463"/>
            <a:ext cx="3312300" cy="111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7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1" type="subTitle"/>
          </p:nvPr>
        </p:nvSpPr>
        <p:spPr>
          <a:xfrm>
            <a:off x="4491888" y="2851113"/>
            <a:ext cx="3312300" cy="6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hasCustomPrompt="1" idx="2" type="title"/>
          </p:nvPr>
        </p:nvSpPr>
        <p:spPr>
          <a:xfrm>
            <a:off x="1931113" y="1872250"/>
            <a:ext cx="1728900" cy="11886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pic>
        <p:nvPicPr>
          <p:cNvPr id="25" name="Google Shape;25;p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1015800" y="-419100"/>
            <a:ext cx="6190054" cy="3832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4352926" y="1967775"/>
            <a:ext cx="5790899" cy="358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4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720000" y="1168463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2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825300" y="-371475"/>
            <a:ext cx="4857272" cy="300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4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5048253" y="2398274"/>
            <a:ext cx="5095572" cy="3154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5"/>
          <p:cNvPicPr preferRelativeResize="0"/>
          <p:nvPr/>
        </p:nvPicPr>
        <p:blipFill rotWithShape="1">
          <a:blip r:embed="rId2">
            <a:alphaModFix amt="75000"/>
          </a:blip>
          <a:srcRect b="0" l="17266" r="0" t="16653"/>
          <a:stretch/>
        </p:blipFill>
        <p:spPr>
          <a:xfrm rot="10800000">
            <a:off x="4688049" y="2278552"/>
            <a:ext cx="4684549" cy="2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5"/>
          <p:cNvPicPr preferRelativeResize="0"/>
          <p:nvPr/>
        </p:nvPicPr>
        <p:blipFill rotWithShape="1">
          <a:blip r:embed="rId2">
            <a:alphaModFix amt="75000"/>
          </a:blip>
          <a:srcRect b="0" l="16618" r="0" t="14668"/>
          <a:stretch/>
        </p:blipFill>
        <p:spPr>
          <a:xfrm rot="4">
            <a:off x="-57150" y="-190497"/>
            <a:ext cx="4810127" cy="304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 txBox="1"/>
          <p:nvPr>
            <p:ph type="title"/>
          </p:nvPr>
        </p:nvSpPr>
        <p:spPr>
          <a:xfrm>
            <a:off x="720000" y="540000"/>
            <a:ext cx="77043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" type="subTitle"/>
          </p:nvPr>
        </p:nvSpPr>
        <p:spPr>
          <a:xfrm>
            <a:off x="1605775" y="3703499"/>
            <a:ext cx="28467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2" type="subTitle"/>
          </p:nvPr>
        </p:nvSpPr>
        <p:spPr>
          <a:xfrm>
            <a:off x="4688050" y="3703499"/>
            <a:ext cx="28467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3" type="subTitle"/>
          </p:nvPr>
        </p:nvSpPr>
        <p:spPr>
          <a:xfrm>
            <a:off x="1605779" y="3328943"/>
            <a:ext cx="28467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" name="Google Shape;47;p5"/>
          <p:cNvSpPr txBox="1"/>
          <p:nvPr>
            <p:ph idx="4" type="subTitle"/>
          </p:nvPr>
        </p:nvSpPr>
        <p:spPr>
          <a:xfrm>
            <a:off x="4688055" y="3328943"/>
            <a:ext cx="28467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6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 amt="75000"/>
          </a:blip>
          <a:srcRect b="0" l="24087" r="0" t="19904"/>
          <a:stretch/>
        </p:blipFill>
        <p:spPr>
          <a:xfrm>
            <a:off x="-104775" y="-85500"/>
            <a:ext cx="3714749" cy="2426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 rotWithShape="1">
          <a:blip r:embed="rId3">
            <a:alphaModFix amt="75000"/>
          </a:blip>
          <a:srcRect b="0" l="22039" r="0" t="14089"/>
          <a:stretch/>
        </p:blipFill>
        <p:spPr>
          <a:xfrm rot="-10799995">
            <a:off x="5705475" y="2752926"/>
            <a:ext cx="3629025" cy="247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7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7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4381506" y="887025"/>
            <a:ext cx="4038600" cy="95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" type="body"/>
          </p:nvPr>
        </p:nvSpPr>
        <p:spPr>
          <a:xfrm>
            <a:off x="4381500" y="1843575"/>
            <a:ext cx="4038600" cy="243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pic>
        <p:nvPicPr>
          <p:cNvPr id="63" name="Google Shape;63;p7"/>
          <p:cNvPicPr preferRelativeResize="0"/>
          <p:nvPr/>
        </p:nvPicPr>
        <p:blipFill rotWithShape="1">
          <a:blip r:embed="rId3">
            <a:alphaModFix amt="75000"/>
          </a:blip>
          <a:srcRect b="0" l="24156" r="0" t="16304"/>
          <a:stretch/>
        </p:blipFill>
        <p:spPr>
          <a:xfrm rot="5400000">
            <a:off x="5767588" y="527636"/>
            <a:ext cx="4294574" cy="2934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8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8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8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8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8"/>
          <p:cNvSpPr txBox="1"/>
          <p:nvPr>
            <p:ph type="title"/>
          </p:nvPr>
        </p:nvSpPr>
        <p:spPr>
          <a:xfrm>
            <a:off x="2005350" y="1506750"/>
            <a:ext cx="5133300" cy="21300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70" name="Google Shape;70;p8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5400000">
            <a:off x="4270575" y="37800"/>
            <a:ext cx="6816287" cy="422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8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-5399997">
            <a:off x="-1890149" y="942974"/>
            <a:ext cx="6692275" cy="414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9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9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9"/>
          <p:cNvSpPr txBox="1"/>
          <p:nvPr>
            <p:ph type="title"/>
          </p:nvPr>
        </p:nvSpPr>
        <p:spPr>
          <a:xfrm>
            <a:off x="970400" y="1168075"/>
            <a:ext cx="3133800" cy="181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8" name="Google Shape;78;p9"/>
          <p:cNvSpPr txBox="1"/>
          <p:nvPr>
            <p:ph idx="1" type="subTitle"/>
          </p:nvPr>
        </p:nvSpPr>
        <p:spPr>
          <a:xfrm>
            <a:off x="970400" y="3167250"/>
            <a:ext cx="3133800" cy="84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9" name="Google Shape;79;p9"/>
          <p:cNvPicPr preferRelativeResize="0"/>
          <p:nvPr/>
        </p:nvPicPr>
        <p:blipFill rotWithShape="1">
          <a:blip r:embed="rId3">
            <a:alphaModFix amt="75000"/>
          </a:blip>
          <a:srcRect b="0" l="19107" r="0" t="4943"/>
          <a:stretch/>
        </p:blipFill>
        <p:spPr>
          <a:xfrm rot="-5400000">
            <a:off x="-727588" y="1263239"/>
            <a:ext cx="4580326" cy="333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0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0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0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0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0"/>
          <p:cNvSpPr txBox="1"/>
          <p:nvPr>
            <p:ph type="title"/>
          </p:nvPr>
        </p:nvSpPr>
        <p:spPr>
          <a:xfrm rot="300">
            <a:off x="720000" y="3295650"/>
            <a:ext cx="3433500" cy="1207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1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1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1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1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1"/>
          <p:cNvSpPr txBox="1"/>
          <p:nvPr>
            <p:ph hasCustomPrompt="1" type="title"/>
          </p:nvPr>
        </p:nvSpPr>
        <p:spPr>
          <a:xfrm rot="186">
            <a:off x="977225" y="1686338"/>
            <a:ext cx="5538000" cy="1234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1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1"/>
          <p:cNvSpPr txBox="1"/>
          <p:nvPr>
            <p:ph idx="1" type="subTitle"/>
          </p:nvPr>
        </p:nvSpPr>
        <p:spPr>
          <a:xfrm>
            <a:off x="977225" y="2821638"/>
            <a:ext cx="5538000" cy="4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3" name="Google Shape;93;p11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 rot="6015032">
            <a:off x="3802652" y="445901"/>
            <a:ext cx="7113000" cy="440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1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5399997">
            <a:off x="-1590800" y="1404054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3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3"/>
          <p:cNvSpPr txBox="1"/>
          <p:nvPr>
            <p:ph type="title"/>
          </p:nvPr>
        </p:nvSpPr>
        <p:spPr>
          <a:xfrm>
            <a:off x="713224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2" name="Google Shape;102;p13"/>
          <p:cNvSpPr txBox="1"/>
          <p:nvPr>
            <p:ph idx="1" type="subTitle"/>
          </p:nvPr>
        </p:nvSpPr>
        <p:spPr>
          <a:xfrm>
            <a:off x="713224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3"/>
          <p:cNvSpPr txBox="1"/>
          <p:nvPr>
            <p:ph idx="2" type="title"/>
          </p:nvPr>
        </p:nvSpPr>
        <p:spPr>
          <a:xfrm>
            <a:off x="713224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4" name="Google Shape;104;p13"/>
          <p:cNvSpPr txBox="1"/>
          <p:nvPr>
            <p:ph idx="3" type="subTitle"/>
          </p:nvPr>
        </p:nvSpPr>
        <p:spPr>
          <a:xfrm>
            <a:off x="713224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3"/>
          <p:cNvSpPr txBox="1"/>
          <p:nvPr>
            <p:ph idx="4" type="title"/>
          </p:nvPr>
        </p:nvSpPr>
        <p:spPr>
          <a:xfrm>
            <a:off x="3419251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6" name="Google Shape;106;p13"/>
          <p:cNvSpPr txBox="1"/>
          <p:nvPr>
            <p:ph idx="5" type="subTitle"/>
          </p:nvPr>
        </p:nvSpPr>
        <p:spPr>
          <a:xfrm>
            <a:off x="3419251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3"/>
          <p:cNvSpPr txBox="1"/>
          <p:nvPr>
            <p:ph idx="6" type="title"/>
          </p:nvPr>
        </p:nvSpPr>
        <p:spPr>
          <a:xfrm>
            <a:off x="3419251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8" name="Google Shape;108;p13"/>
          <p:cNvSpPr txBox="1"/>
          <p:nvPr>
            <p:ph idx="7" type="subTitle"/>
          </p:nvPr>
        </p:nvSpPr>
        <p:spPr>
          <a:xfrm>
            <a:off x="3419251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hasCustomPrompt="1" idx="8" type="title"/>
          </p:nvPr>
        </p:nvSpPr>
        <p:spPr>
          <a:xfrm>
            <a:off x="1415374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/>
          <p:nvPr>
            <p:ph hasCustomPrompt="1" idx="9" type="title"/>
          </p:nvPr>
        </p:nvSpPr>
        <p:spPr>
          <a:xfrm>
            <a:off x="4121401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/>
          <p:nvPr>
            <p:ph hasCustomPrompt="1" idx="13" type="title"/>
          </p:nvPr>
        </p:nvSpPr>
        <p:spPr>
          <a:xfrm>
            <a:off x="1415374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/>
          <p:nvPr>
            <p:ph hasCustomPrompt="1" idx="14" type="title"/>
          </p:nvPr>
        </p:nvSpPr>
        <p:spPr>
          <a:xfrm>
            <a:off x="4121401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3" name="Google Shape;113;p13"/>
          <p:cNvSpPr txBox="1"/>
          <p:nvPr>
            <p:ph idx="15" type="title"/>
          </p:nvPr>
        </p:nvSpPr>
        <p:spPr>
          <a:xfrm>
            <a:off x="6125276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14" name="Google Shape;114;p13"/>
          <p:cNvSpPr txBox="1"/>
          <p:nvPr>
            <p:ph idx="16" type="subTitle"/>
          </p:nvPr>
        </p:nvSpPr>
        <p:spPr>
          <a:xfrm>
            <a:off x="6125276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3"/>
          <p:cNvSpPr txBox="1"/>
          <p:nvPr>
            <p:ph idx="17" type="title"/>
          </p:nvPr>
        </p:nvSpPr>
        <p:spPr>
          <a:xfrm>
            <a:off x="6125276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16" name="Google Shape;116;p13"/>
          <p:cNvSpPr txBox="1"/>
          <p:nvPr>
            <p:ph idx="18" type="subTitle"/>
          </p:nvPr>
        </p:nvSpPr>
        <p:spPr>
          <a:xfrm>
            <a:off x="6125276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3"/>
          <p:cNvSpPr txBox="1"/>
          <p:nvPr>
            <p:ph hasCustomPrompt="1" idx="19" type="title"/>
          </p:nvPr>
        </p:nvSpPr>
        <p:spPr>
          <a:xfrm>
            <a:off x="6827426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/>
          <p:nvPr>
            <p:ph hasCustomPrompt="1" idx="20" type="title"/>
          </p:nvPr>
        </p:nvSpPr>
        <p:spPr>
          <a:xfrm>
            <a:off x="6827426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pic>
        <p:nvPicPr>
          <p:cNvPr id="119" name="Google Shape;119;p1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-5400000">
            <a:off x="-1377750" y="2269750"/>
            <a:ext cx="4857272" cy="300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5400000">
            <a:off x="5366340" y="82974"/>
            <a:ext cx="5095572" cy="315487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3"/>
          <p:cNvSpPr txBox="1"/>
          <p:nvPr>
            <p:ph idx="21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4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4"/>
          <p:cNvSpPr txBox="1"/>
          <p:nvPr>
            <p:ph type="title"/>
          </p:nvPr>
        </p:nvSpPr>
        <p:spPr>
          <a:xfrm>
            <a:off x="1486024" y="3068248"/>
            <a:ext cx="6172200" cy="44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14"/>
          <p:cNvSpPr txBox="1"/>
          <p:nvPr>
            <p:ph idx="1" type="subTitle"/>
          </p:nvPr>
        </p:nvSpPr>
        <p:spPr>
          <a:xfrm>
            <a:off x="1485800" y="1628863"/>
            <a:ext cx="6172200" cy="149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29" name="Google Shape;129;p14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>
            <a:off x="-1436100" y="-758750"/>
            <a:ext cx="6816174" cy="422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4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10799997">
            <a:off x="4648077" y="1876429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2_1_2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5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5"/>
          <p:cNvSpPr txBox="1"/>
          <p:nvPr>
            <p:ph type="title"/>
          </p:nvPr>
        </p:nvSpPr>
        <p:spPr>
          <a:xfrm>
            <a:off x="964750" y="1536350"/>
            <a:ext cx="2947500" cy="55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7" name="Google Shape;137;p15"/>
          <p:cNvSpPr txBox="1"/>
          <p:nvPr>
            <p:ph idx="1" type="subTitle"/>
          </p:nvPr>
        </p:nvSpPr>
        <p:spPr>
          <a:xfrm rot="350">
            <a:off x="964550" y="2381675"/>
            <a:ext cx="2947500" cy="1404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8" name="Google Shape;138;p15"/>
          <p:cNvPicPr preferRelativeResize="0"/>
          <p:nvPr/>
        </p:nvPicPr>
        <p:blipFill rotWithShape="1">
          <a:blip r:embed="rId3">
            <a:alphaModFix amt="75000"/>
          </a:blip>
          <a:srcRect b="0" l="20572" r="0" t="8876"/>
          <a:stretch/>
        </p:blipFill>
        <p:spPr>
          <a:xfrm rot="10800000">
            <a:off x="4713096" y="1967777"/>
            <a:ext cx="4497577" cy="3194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3">
            <a:alphaModFix amt="75000"/>
          </a:blip>
          <a:srcRect b="0" l="20886" r="0" t="8232"/>
          <a:stretch/>
        </p:blipFill>
        <p:spPr>
          <a:xfrm rot="4">
            <a:off x="-66675" y="-190497"/>
            <a:ext cx="4563850" cy="3277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2_1_1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6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6"/>
          <p:cNvSpPr txBox="1"/>
          <p:nvPr>
            <p:ph idx="1" type="body"/>
          </p:nvPr>
        </p:nvSpPr>
        <p:spPr>
          <a:xfrm>
            <a:off x="720000" y="1456400"/>
            <a:ext cx="7704000" cy="259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 b="1" sz="12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6" name="Google Shape;146;p16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47" name="Google Shape;147;p16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 rot="5400000">
            <a:off x="5369415" y="-442041"/>
            <a:ext cx="5662423" cy="350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5399997">
            <a:off x="-1828923" y="1781179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12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7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>
            <p:ph idx="1" type="body"/>
          </p:nvPr>
        </p:nvSpPr>
        <p:spPr>
          <a:xfrm>
            <a:off x="713225" y="1475125"/>
            <a:ext cx="7717500" cy="312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5" name="Google Shape;155;p17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3">
            <a:alphaModFix amt="75000"/>
          </a:blip>
          <a:srcRect b="73706" l="-60" r="0" t="536"/>
          <a:stretch/>
        </p:blipFill>
        <p:spPr>
          <a:xfrm rot="5400003">
            <a:off x="-2495438" y="2110890"/>
            <a:ext cx="5461376" cy="8705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/>
          <p:cNvPicPr preferRelativeResize="0"/>
          <p:nvPr/>
        </p:nvPicPr>
        <p:blipFill rotWithShape="1">
          <a:blip r:embed="rId3">
            <a:alphaModFix amt="75000"/>
          </a:blip>
          <a:srcRect b="73706" l="-60" r="0" t="536"/>
          <a:stretch/>
        </p:blipFill>
        <p:spPr>
          <a:xfrm rot="-5399997">
            <a:off x="6178013" y="2110891"/>
            <a:ext cx="5461376" cy="8705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3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8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 txBox="1"/>
          <p:nvPr>
            <p:ph type="title"/>
          </p:nvPr>
        </p:nvSpPr>
        <p:spPr>
          <a:xfrm rot="-1114">
            <a:off x="726775" y="2183450"/>
            <a:ext cx="2778300" cy="82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2" name="Google Shape;162;p18"/>
          <p:cNvSpPr txBox="1"/>
          <p:nvPr>
            <p:ph idx="1" type="subTitle"/>
          </p:nvPr>
        </p:nvSpPr>
        <p:spPr>
          <a:xfrm rot="371">
            <a:off x="726775" y="2991552"/>
            <a:ext cx="2778300" cy="48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18"/>
          <p:cNvSpPr txBox="1"/>
          <p:nvPr>
            <p:ph idx="2" type="title"/>
          </p:nvPr>
        </p:nvSpPr>
        <p:spPr>
          <a:xfrm>
            <a:off x="3189587" y="3304275"/>
            <a:ext cx="27783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" name="Google Shape;164;p18"/>
          <p:cNvSpPr txBox="1"/>
          <p:nvPr>
            <p:ph idx="3" type="subTitle"/>
          </p:nvPr>
        </p:nvSpPr>
        <p:spPr>
          <a:xfrm>
            <a:off x="3189587" y="4114925"/>
            <a:ext cx="27783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18"/>
          <p:cNvSpPr txBox="1"/>
          <p:nvPr>
            <p:ph idx="4" type="title"/>
          </p:nvPr>
        </p:nvSpPr>
        <p:spPr>
          <a:xfrm>
            <a:off x="5652399" y="2182150"/>
            <a:ext cx="27783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6" name="Google Shape;166;p18"/>
          <p:cNvSpPr txBox="1"/>
          <p:nvPr>
            <p:ph idx="5" type="subTitle"/>
          </p:nvPr>
        </p:nvSpPr>
        <p:spPr>
          <a:xfrm>
            <a:off x="5652399" y="2991875"/>
            <a:ext cx="2778300" cy="48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18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9" name="Google Shape;169;p18"/>
          <p:cNvPicPr preferRelativeResize="0"/>
          <p:nvPr/>
        </p:nvPicPr>
        <p:blipFill rotWithShape="1">
          <a:blip r:embed="rId3">
            <a:alphaModFix amt="75000"/>
          </a:blip>
          <a:srcRect b="0" l="16597" r="0" t="23395"/>
          <a:stretch/>
        </p:blipFill>
        <p:spPr>
          <a:xfrm rot="-5400000">
            <a:off x="-1349762" y="941737"/>
            <a:ext cx="5684874" cy="323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/>
          <p:cNvPicPr preferRelativeResize="0"/>
          <p:nvPr/>
        </p:nvPicPr>
        <p:blipFill rotWithShape="1">
          <a:blip r:embed="rId3">
            <a:alphaModFix amt="75000"/>
          </a:blip>
          <a:srcRect b="0" l="23059" r="0" t="16269"/>
          <a:stretch/>
        </p:blipFill>
        <p:spPr>
          <a:xfrm rot="5400004">
            <a:off x="5600637" y="400113"/>
            <a:ext cx="4438774" cy="29908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>
            <p:ph idx="6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 txBox="1"/>
          <p:nvPr>
            <p:ph type="title"/>
          </p:nvPr>
        </p:nvSpPr>
        <p:spPr>
          <a:xfrm>
            <a:off x="1600200" y="1345325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78" name="Google Shape;178;p19"/>
          <p:cNvSpPr txBox="1"/>
          <p:nvPr>
            <p:ph idx="1" type="subTitle"/>
          </p:nvPr>
        </p:nvSpPr>
        <p:spPr>
          <a:xfrm>
            <a:off x="1600200" y="1576824"/>
            <a:ext cx="5943600" cy="7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19"/>
          <p:cNvSpPr txBox="1"/>
          <p:nvPr>
            <p:ph idx="2" type="title"/>
          </p:nvPr>
        </p:nvSpPr>
        <p:spPr>
          <a:xfrm>
            <a:off x="1600200" y="2491787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80" name="Google Shape;180;p19"/>
          <p:cNvSpPr txBox="1"/>
          <p:nvPr>
            <p:ph idx="3" type="subTitle"/>
          </p:nvPr>
        </p:nvSpPr>
        <p:spPr>
          <a:xfrm>
            <a:off x="1600200" y="2721226"/>
            <a:ext cx="5943600" cy="78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19"/>
          <p:cNvSpPr txBox="1"/>
          <p:nvPr>
            <p:ph idx="4" type="title"/>
          </p:nvPr>
        </p:nvSpPr>
        <p:spPr>
          <a:xfrm>
            <a:off x="1593425" y="3636142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82" name="Google Shape;182;p19"/>
          <p:cNvSpPr txBox="1"/>
          <p:nvPr>
            <p:ph idx="5" type="subTitle"/>
          </p:nvPr>
        </p:nvSpPr>
        <p:spPr>
          <a:xfrm>
            <a:off x="1593425" y="3867801"/>
            <a:ext cx="5943600" cy="7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3" name="Google Shape;183;p19"/>
          <p:cNvPicPr preferRelativeResize="0"/>
          <p:nvPr/>
        </p:nvPicPr>
        <p:blipFill rotWithShape="1">
          <a:blip r:embed="rId3">
            <a:alphaModFix amt="75000"/>
          </a:blip>
          <a:srcRect b="66797" l="-60" r="0" t="536"/>
          <a:stretch/>
        </p:blipFill>
        <p:spPr>
          <a:xfrm rot="-5399997">
            <a:off x="5922077" y="1921653"/>
            <a:ext cx="5772273" cy="1166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/>
          <p:cNvPicPr preferRelativeResize="0"/>
          <p:nvPr/>
        </p:nvPicPr>
        <p:blipFill rotWithShape="1">
          <a:blip r:embed="rId3">
            <a:alphaModFix amt="75000"/>
          </a:blip>
          <a:srcRect b="66797" l="-60" r="0" t="536"/>
          <a:stretch/>
        </p:blipFill>
        <p:spPr>
          <a:xfrm rot="5400003">
            <a:off x="-2553948" y="1988316"/>
            <a:ext cx="5772273" cy="116687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>
            <p:ph idx="6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4_2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0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0"/>
          <p:cNvSpPr txBox="1"/>
          <p:nvPr>
            <p:ph idx="1" type="subTitle"/>
          </p:nvPr>
        </p:nvSpPr>
        <p:spPr>
          <a:xfrm>
            <a:off x="2109048" y="1553404"/>
            <a:ext cx="23154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2" name="Google Shape;192;p20"/>
          <p:cNvSpPr txBox="1"/>
          <p:nvPr>
            <p:ph idx="2" type="subTitle"/>
          </p:nvPr>
        </p:nvSpPr>
        <p:spPr>
          <a:xfrm>
            <a:off x="2109047" y="1915655"/>
            <a:ext cx="23154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3" name="Google Shape;193;p20"/>
          <p:cNvSpPr txBox="1"/>
          <p:nvPr>
            <p:ph idx="3" type="subTitle"/>
          </p:nvPr>
        </p:nvSpPr>
        <p:spPr>
          <a:xfrm>
            <a:off x="4708749" y="1553404"/>
            <a:ext cx="23262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4" name="Google Shape;194;p20"/>
          <p:cNvSpPr txBox="1"/>
          <p:nvPr>
            <p:ph idx="4" type="subTitle"/>
          </p:nvPr>
        </p:nvSpPr>
        <p:spPr>
          <a:xfrm>
            <a:off x="4708753" y="1915655"/>
            <a:ext cx="23262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5" name="Google Shape;195;p20"/>
          <p:cNvSpPr txBox="1"/>
          <p:nvPr>
            <p:ph idx="5" type="subTitle"/>
          </p:nvPr>
        </p:nvSpPr>
        <p:spPr>
          <a:xfrm>
            <a:off x="2109048" y="3102807"/>
            <a:ext cx="23133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6" name="Google Shape;196;p20"/>
          <p:cNvSpPr txBox="1"/>
          <p:nvPr>
            <p:ph idx="6" type="subTitle"/>
          </p:nvPr>
        </p:nvSpPr>
        <p:spPr>
          <a:xfrm>
            <a:off x="2109047" y="3462836"/>
            <a:ext cx="23133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7" name="Google Shape;197;p20"/>
          <p:cNvSpPr txBox="1"/>
          <p:nvPr>
            <p:ph idx="7" type="subTitle"/>
          </p:nvPr>
        </p:nvSpPr>
        <p:spPr>
          <a:xfrm>
            <a:off x="4708750" y="3102806"/>
            <a:ext cx="23262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8" name="Google Shape;198;p20"/>
          <p:cNvSpPr txBox="1"/>
          <p:nvPr>
            <p:ph idx="8" type="subTitle"/>
          </p:nvPr>
        </p:nvSpPr>
        <p:spPr>
          <a:xfrm>
            <a:off x="4708753" y="3462836"/>
            <a:ext cx="23262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9" name="Google Shape;199;p20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00" name="Google Shape;200;p20"/>
          <p:cNvPicPr preferRelativeResize="0"/>
          <p:nvPr/>
        </p:nvPicPr>
        <p:blipFill rotWithShape="1">
          <a:blip r:embed="rId3">
            <a:alphaModFix amt="75000"/>
          </a:blip>
          <a:srcRect b="0" l="23664" r="0" t="13300"/>
          <a:stretch/>
        </p:blipFill>
        <p:spPr>
          <a:xfrm>
            <a:off x="-142875" y="-308600"/>
            <a:ext cx="4171950" cy="2933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/>
          <p:cNvPicPr preferRelativeResize="0"/>
          <p:nvPr/>
        </p:nvPicPr>
        <p:blipFill rotWithShape="1">
          <a:blip r:embed="rId3">
            <a:alphaModFix amt="75000"/>
          </a:blip>
          <a:srcRect b="0" l="21334" r="0" t="3883"/>
          <a:stretch/>
        </p:blipFill>
        <p:spPr>
          <a:xfrm rot="-10799995">
            <a:off x="5587300" y="2451302"/>
            <a:ext cx="3747200" cy="2835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5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1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1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1"/>
          <p:cNvSpPr txBox="1"/>
          <p:nvPr>
            <p:ph type="title"/>
          </p:nvPr>
        </p:nvSpPr>
        <p:spPr>
          <a:xfrm>
            <a:off x="720000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08" name="Google Shape;208;p21"/>
          <p:cNvSpPr txBox="1"/>
          <p:nvPr>
            <p:ph idx="1" type="subTitle"/>
          </p:nvPr>
        </p:nvSpPr>
        <p:spPr>
          <a:xfrm>
            <a:off x="720204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9" name="Google Shape;209;p21"/>
          <p:cNvSpPr txBox="1"/>
          <p:nvPr>
            <p:ph idx="2" type="title"/>
          </p:nvPr>
        </p:nvSpPr>
        <p:spPr>
          <a:xfrm>
            <a:off x="3368276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0" name="Google Shape;210;p21"/>
          <p:cNvSpPr txBox="1"/>
          <p:nvPr>
            <p:ph idx="3" type="subTitle"/>
          </p:nvPr>
        </p:nvSpPr>
        <p:spPr>
          <a:xfrm>
            <a:off x="3368275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21"/>
          <p:cNvSpPr txBox="1"/>
          <p:nvPr>
            <p:ph idx="4" type="title"/>
          </p:nvPr>
        </p:nvSpPr>
        <p:spPr>
          <a:xfrm>
            <a:off x="720204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2" name="Google Shape;212;p21"/>
          <p:cNvSpPr txBox="1"/>
          <p:nvPr>
            <p:ph idx="5" type="subTitle"/>
          </p:nvPr>
        </p:nvSpPr>
        <p:spPr>
          <a:xfrm>
            <a:off x="720204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21"/>
          <p:cNvSpPr txBox="1"/>
          <p:nvPr>
            <p:ph idx="6" type="title"/>
          </p:nvPr>
        </p:nvSpPr>
        <p:spPr>
          <a:xfrm>
            <a:off x="3368276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4" name="Google Shape;214;p21"/>
          <p:cNvSpPr txBox="1"/>
          <p:nvPr>
            <p:ph idx="7" type="subTitle"/>
          </p:nvPr>
        </p:nvSpPr>
        <p:spPr>
          <a:xfrm>
            <a:off x="3368275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1"/>
          <p:cNvSpPr txBox="1"/>
          <p:nvPr>
            <p:ph idx="8" type="title"/>
          </p:nvPr>
        </p:nvSpPr>
        <p:spPr>
          <a:xfrm>
            <a:off x="6000876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6" name="Google Shape;216;p21"/>
          <p:cNvSpPr txBox="1"/>
          <p:nvPr>
            <p:ph idx="9" type="subTitle"/>
          </p:nvPr>
        </p:nvSpPr>
        <p:spPr>
          <a:xfrm>
            <a:off x="6000875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21"/>
          <p:cNvSpPr txBox="1"/>
          <p:nvPr>
            <p:ph idx="13" type="title"/>
          </p:nvPr>
        </p:nvSpPr>
        <p:spPr>
          <a:xfrm>
            <a:off x="6000876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32352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8" name="Google Shape;218;p21"/>
          <p:cNvSpPr txBox="1"/>
          <p:nvPr>
            <p:ph idx="14" type="subTitle"/>
          </p:nvPr>
        </p:nvSpPr>
        <p:spPr>
          <a:xfrm>
            <a:off x="6000875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1"/>
          <p:cNvSpPr txBox="1"/>
          <p:nvPr>
            <p:ph idx="15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20" name="Google Shape;220;p21"/>
          <p:cNvPicPr preferRelativeResize="0"/>
          <p:nvPr/>
        </p:nvPicPr>
        <p:blipFill rotWithShape="1">
          <a:blip r:embed="rId3">
            <a:alphaModFix amt="75000"/>
          </a:blip>
          <a:srcRect b="0" l="23148" r="0" t="15754"/>
          <a:stretch/>
        </p:blipFill>
        <p:spPr>
          <a:xfrm rot="5400000">
            <a:off x="5748539" y="489536"/>
            <a:ext cx="4351724" cy="2953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 rotWithShape="1">
          <a:blip r:embed="rId3">
            <a:alphaModFix amt="75000"/>
          </a:blip>
          <a:srcRect b="0" l="19672" r="0" t="17471"/>
          <a:stretch/>
        </p:blipFill>
        <p:spPr>
          <a:xfrm rot="-5399996">
            <a:off x="-957325" y="1514479"/>
            <a:ext cx="4633974" cy="29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9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2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2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22"/>
          <p:cNvSpPr txBox="1"/>
          <p:nvPr>
            <p:ph type="title"/>
          </p:nvPr>
        </p:nvSpPr>
        <p:spPr>
          <a:xfrm>
            <a:off x="867750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8" name="Google Shape;228;p22"/>
          <p:cNvSpPr txBox="1"/>
          <p:nvPr>
            <p:ph idx="1" type="subTitle"/>
          </p:nvPr>
        </p:nvSpPr>
        <p:spPr>
          <a:xfrm>
            <a:off x="867750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22"/>
          <p:cNvSpPr txBox="1"/>
          <p:nvPr>
            <p:ph idx="2" type="title"/>
          </p:nvPr>
        </p:nvSpPr>
        <p:spPr>
          <a:xfrm>
            <a:off x="3651596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0" name="Google Shape;230;p22"/>
          <p:cNvSpPr txBox="1"/>
          <p:nvPr>
            <p:ph idx="3" type="subTitle"/>
          </p:nvPr>
        </p:nvSpPr>
        <p:spPr>
          <a:xfrm>
            <a:off x="3651596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22"/>
          <p:cNvSpPr txBox="1"/>
          <p:nvPr>
            <p:ph idx="4" type="title"/>
          </p:nvPr>
        </p:nvSpPr>
        <p:spPr>
          <a:xfrm>
            <a:off x="6434843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2" name="Google Shape;232;p22"/>
          <p:cNvSpPr txBox="1"/>
          <p:nvPr>
            <p:ph idx="5" type="subTitle"/>
          </p:nvPr>
        </p:nvSpPr>
        <p:spPr>
          <a:xfrm>
            <a:off x="6434843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22"/>
          <p:cNvSpPr txBox="1"/>
          <p:nvPr>
            <p:ph hasCustomPrompt="1" idx="6" type="title"/>
          </p:nvPr>
        </p:nvSpPr>
        <p:spPr>
          <a:xfrm>
            <a:off x="1316850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34" name="Google Shape;234;p22"/>
          <p:cNvSpPr txBox="1"/>
          <p:nvPr>
            <p:ph hasCustomPrompt="1" idx="7" type="title"/>
          </p:nvPr>
        </p:nvSpPr>
        <p:spPr>
          <a:xfrm>
            <a:off x="4100400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5" name="Google Shape;235;p22"/>
          <p:cNvSpPr txBox="1"/>
          <p:nvPr>
            <p:ph hasCustomPrompt="1" idx="8" type="title"/>
          </p:nvPr>
        </p:nvSpPr>
        <p:spPr>
          <a:xfrm>
            <a:off x="6883943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6" name="Google Shape;236;p22"/>
          <p:cNvSpPr txBox="1"/>
          <p:nvPr>
            <p:ph idx="9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37" name="Google Shape;237;p22"/>
          <p:cNvPicPr preferRelativeResize="0"/>
          <p:nvPr/>
        </p:nvPicPr>
        <p:blipFill rotWithShape="1">
          <a:blip r:embed="rId3">
            <a:alphaModFix amt="75000"/>
          </a:blip>
          <a:srcRect b="0" l="23313" r="0" t="17390"/>
          <a:stretch/>
        </p:blipFill>
        <p:spPr>
          <a:xfrm rot="5400000">
            <a:off x="5724725" y="522874"/>
            <a:ext cx="4342200" cy="289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2"/>
          <p:cNvPicPr preferRelativeResize="0"/>
          <p:nvPr/>
        </p:nvPicPr>
        <p:blipFill rotWithShape="1">
          <a:blip r:embed="rId3">
            <a:alphaModFix amt="75000"/>
          </a:blip>
          <a:srcRect b="0" l="21489" r="0" t="20408"/>
          <a:stretch/>
        </p:blipFill>
        <p:spPr>
          <a:xfrm rot="-5399996">
            <a:off x="-852549" y="1514479"/>
            <a:ext cx="4529198" cy="2843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7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3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3"/>
          <p:cNvSpPr txBox="1"/>
          <p:nvPr>
            <p:ph type="title"/>
          </p:nvPr>
        </p:nvSpPr>
        <p:spPr>
          <a:xfrm>
            <a:off x="721575" y="540775"/>
            <a:ext cx="7704000" cy="572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45" name="Google Shape;245;p23"/>
          <p:cNvPicPr preferRelativeResize="0"/>
          <p:nvPr/>
        </p:nvPicPr>
        <p:blipFill rotWithShape="1">
          <a:blip r:embed="rId3">
            <a:alphaModFix amt="75000"/>
          </a:blip>
          <a:srcRect b="0" l="26205" r="0" t="0"/>
          <a:stretch/>
        </p:blipFill>
        <p:spPr>
          <a:xfrm rot="-5400000">
            <a:off x="-785911" y="1937192"/>
            <a:ext cx="3611223" cy="303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/>
          <p:cNvPicPr preferRelativeResize="0"/>
          <p:nvPr/>
        </p:nvPicPr>
        <p:blipFill rotWithShape="1">
          <a:blip r:embed="rId3">
            <a:alphaModFix amt="75000"/>
          </a:blip>
          <a:srcRect b="0" l="26335" r="0" t="537"/>
          <a:stretch/>
        </p:blipFill>
        <p:spPr>
          <a:xfrm rot="5400005">
            <a:off x="6372987" y="109689"/>
            <a:ext cx="3429100" cy="2866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8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4"/>
          <p:cNvSpPr txBox="1"/>
          <p:nvPr>
            <p:ph type="ctrTitle"/>
          </p:nvPr>
        </p:nvSpPr>
        <p:spPr>
          <a:xfrm>
            <a:off x="2243613" y="573100"/>
            <a:ext cx="4661700" cy="115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53" name="Google Shape;253;p24"/>
          <p:cNvSpPr txBox="1"/>
          <p:nvPr>
            <p:ph idx="1" type="subTitle"/>
          </p:nvPr>
        </p:nvSpPr>
        <p:spPr>
          <a:xfrm>
            <a:off x="2243625" y="1723300"/>
            <a:ext cx="4661700" cy="115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4"/>
          <p:cNvSpPr txBox="1"/>
          <p:nvPr/>
        </p:nvSpPr>
        <p:spPr>
          <a:xfrm>
            <a:off x="2072100" y="4182850"/>
            <a:ext cx="49998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91425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CREDITS: This presentation template was created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, and includes icons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 and infographics &amp; images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pic>
        <p:nvPicPr>
          <p:cNvPr id="255" name="Google Shape;255;p24"/>
          <p:cNvPicPr preferRelativeResize="0"/>
          <p:nvPr/>
        </p:nvPicPr>
        <p:blipFill rotWithShape="1">
          <a:blip r:embed="rId6">
            <a:alphaModFix amt="75000"/>
          </a:blip>
          <a:srcRect b="0" l="18321" r="0" t="0"/>
          <a:stretch/>
        </p:blipFill>
        <p:spPr>
          <a:xfrm rot="5400000">
            <a:off x="5077976" y="347474"/>
            <a:ext cx="5076823" cy="384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4"/>
          <p:cNvPicPr preferRelativeResize="0"/>
          <p:nvPr/>
        </p:nvPicPr>
        <p:blipFill rotWithShape="1">
          <a:blip r:embed="rId6">
            <a:alphaModFix amt="75000"/>
          </a:blip>
          <a:srcRect b="0" l="14259" r="0" t="537"/>
          <a:stretch/>
        </p:blipFill>
        <p:spPr>
          <a:xfrm rot="-5399997">
            <a:off x="-1076912" y="756716"/>
            <a:ext cx="5372099" cy="3858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18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5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2" name="Google Shape;262;p25"/>
          <p:cNvPicPr preferRelativeResize="0"/>
          <p:nvPr/>
        </p:nvPicPr>
        <p:blipFill rotWithShape="1">
          <a:blip r:embed="rId3">
            <a:alphaModFix amt="75000"/>
          </a:blip>
          <a:srcRect b="0" l="23664" r="0" t="13300"/>
          <a:stretch/>
        </p:blipFill>
        <p:spPr>
          <a:xfrm>
            <a:off x="9525" y="-156200"/>
            <a:ext cx="4171950" cy="2933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5"/>
          <p:cNvPicPr preferRelativeResize="0"/>
          <p:nvPr/>
        </p:nvPicPr>
        <p:blipFill rotWithShape="1">
          <a:blip r:embed="rId3">
            <a:alphaModFix amt="75000"/>
          </a:blip>
          <a:srcRect b="0" l="21334" r="0" t="3883"/>
          <a:stretch/>
        </p:blipFill>
        <p:spPr>
          <a:xfrm rot="-10799995">
            <a:off x="5739700" y="2603702"/>
            <a:ext cx="3747200" cy="2835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18_1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6"/>
          <p:cNvPicPr preferRelativeResize="0"/>
          <p:nvPr/>
        </p:nvPicPr>
        <p:blipFill rotWithShape="1">
          <a:blip r:embed="rId2">
            <a:alphaModFix/>
          </a:blip>
          <a:srcRect b="17754" l="0" r="0" t="1621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6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6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1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9" name="Google Shape;269;p26"/>
          <p:cNvPicPr preferRelativeResize="0"/>
          <p:nvPr/>
        </p:nvPicPr>
        <p:blipFill rotWithShape="1">
          <a:blip r:embed="rId3">
            <a:alphaModFix amt="75000"/>
          </a:blip>
          <a:srcRect b="0" l="20357" r="0" t="0"/>
          <a:stretch/>
        </p:blipFill>
        <p:spPr>
          <a:xfrm rot="5400000">
            <a:off x="4631025" y="510125"/>
            <a:ext cx="5524500" cy="429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6"/>
          <p:cNvPicPr preferRelativeResize="0"/>
          <p:nvPr/>
        </p:nvPicPr>
        <p:blipFill rotWithShape="1">
          <a:blip r:embed="rId3">
            <a:alphaModFix amt="75000"/>
          </a:blip>
          <a:srcRect b="0" l="16646" r="0" t="537"/>
          <a:stretch/>
        </p:blipFill>
        <p:spPr>
          <a:xfrm rot="-5399997">
            <a:off x="-1058539" y="294014"/>
            <a:ext cx="5654502" cy="4177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9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chemeClr val="dk2"/>
            </a:gs>
            <a:gs pos="37000">
              <a:schemeClr val="dk1"/>
            </a:gs>
            <a:gs pos="6300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82475" y="5400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udiowide"/>
              <a:buNone/>
              <a:defRPr sz="2800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82475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7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273" name="Google Shape;273;p27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  <p:sldLayoutId id="2147483674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3000">
                <a:solidFill>
                  <a:srgbClr val="FFFFFF"/>
                </a:solidFill>
                <a:latin typeface="Audiowide"/>
              </a:rPr>
              <a:t>AI RESEARCH PAPER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>
                <a:solidFill>
                  <a:srgbClr val="51AFDB"/>
                </a:solidFill>
                <a:latin typeface="Audiowide"/>
              </a:rPr>
              <a:t>ResearchForge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4224528"/>
            <a:ext cx="588873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BIT4543 Artificial Intelligence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B8CEE4"/>
                </a:solidFill>
                <a:latin typeface="Karla"/>
              </a:rPr>
              <a:t>AI Topic: Document Intelligence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51AFDB"/>
                </a:solidFill>
                <a:latin typeface="Karla"/>
              </a:rPr>
              <a:t>researchforge.rukon.dev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Background and motivation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154990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32688" y="1453896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Researchers work with large volumes of academic literature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97053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874520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Reading and understanding papers manually is slow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39115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Key findings are hard to extract quickly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281178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15768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Research gaps are difficult to identify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323240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36392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Literature reviews require comparison across sources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65302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557016"/>
            <a:ext cx="4489704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AI can assist with document understanding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1481328"/>
            <a:ext cx="2715768" cy="2066543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870448" y="1645920"/>
            <a:ext cx="240487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Audiowide"/>
              </a:rPr>
              <a:t>THE FIRST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2066543"/>
            <a:ext cx="2404872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For every paper a researcher must decide: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Karla"/>
              </a:rPr>
              <a:t>What does it claim?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Karla"/>
              </a:rPr>
              <a:t>What does it leave open?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Karla"/>
              </a:rPr>
              <a:t>How does it relate to the rest?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160520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ResearchForge assists this first pass, so effort is spent on the papers that matter.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Problem statement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481328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6002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Slow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911095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Reading and assessing each paper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takes significant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6704" y="1481328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74720" y="16002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Hard to 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11095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Key findings are buried 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long, dense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481328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08192" y="16002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Gaps are hidden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1911095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Identifying what a paper leaves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open requires close reading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98064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291693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Review effort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227832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Literature reviews need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comparison across 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2798064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74720" y="291693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Duplicate AI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Re-analysing the same paper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repeats API calls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0176" y="2798064"/>
            <a:ext cx="2450592" cy="115214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08192" y="291693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No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3227832"/>
            <a:ext cx="21945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Researchers lack a structured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assistance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224528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A general chatbot will answer about a paper it has not read - an unreliable summary is worse than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Project objectives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nip Diagonal Corner Rectangle 3"/>
          <p:cNvSpPr/>
          <p:nvPr/>
        </p:nvSpPr>
        <p:spPr>
          <a:xfrm>
            <a:off x="713232" y="1517904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1572768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Upload research papers</a:t>
            </a:r>
          </a:p>
        </p:txBody>
      </p:sp>
      <p:sp>
        <p:nvSpPr>
          <p:cNvPr id="7" name="Snip Diagonal Corner Rectangle 6"/>
          <p:cNvSpPr/>
          <p:nvPr/>
        </p:nvSpPr>
        <p:spPr>
          <a:xfrm>
            <a:off x="713232" y="2084831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2139696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139696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Extract text from PDF papers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713232" y="2651760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706624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2706624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Generate summaries and key findings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713232" y="3218688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3273552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273552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Identify research gaps</a:t>
            </a:r>
          </a:p>
        </p:txBody>
      </p:sp>
      <p:sp>
        <p:nvSpPr>
          <p:cNvPr id="16" name="Snip Diagonal Corner Rectangle 15"/>
          <p:cNvSpPr/>
          <p:nvPr/>
        </p:nvSpPr>
        <p:spPr>
          <a:xfrm>
            <a:off x="713232" y="3785615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3840479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3840479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Generate literature review content</a:t>
            </a:r>
          </a:p>
        </p:txBody>
      </p:sp>
      <p:sp>
        <p:nvSpPr>
          <p:cNvPr id="19" name="Snip Diagonal Corner Rectangle 18"/>
          <p:cNvSpPr/>
          <p:nvPr/>
        </p:nvSpPr>
        <p:spPr>
          <a:xfrm>
            <a:off x="4663440" y="1517904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63440" y="1572768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572768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Support cross-paper literature review</a:t>
            </a:r>
          </a:p>
        </p:txBody>
      </p:sp>
      <p:sp>
        <p:nvSpPr>
          <p:cNvPr id="22" name="Snip Diagonal Corner Rectangle 21"/>
          <p:cNvSpPr/>
          <p:nvPr/>
        </p:nvSpPr>
        <p:spPr>
          <a:xfrm>
            <a:off x="4663440" y="2084831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63440" y="2139696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5504" y="2139696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Provide a usable assistant interface</a:t>
            </a:r>
          </a:p>
        </p:txBody>
      </p:sp>
      <p:sp>
        <p:nvSpPr>
          <p:cNvPr id="25" name="Snip Diagonal Corner Rectangle 24"/>
          <p:cNvSpPr/>
          <p:nvPr/>
        </p:nvSpPr>
        <p:spPr>
          <a:xfrm>
            <a:off x="4663440" y="2651760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663440" y="2706624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5504" y="2706624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Secure accounts and private ownership</a:t>
            </a:r>
          </a:p>
        </p:txBody>
      </p:sp>
      <p:sp>
        <p:nvSpPr>
          <p:cNvPr id="28" name="Snip Diagonal Corner Rectangle 27"/>
          <p:cNvSpPr/>
          <p:nvPr/>
        </p:nvSpPr>
        <p:spPr>
          <a:xfrm>
            <a:off x="4663440" y="3218688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663440" y="3273552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75504" y="3273552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Reduce duplicate AI processing (cache)</a:t>
            </a:r>
          </a:p>
        </p:txBody>
      </p:sp>
      <p:sp>
        <p:nvSpPr>
          <p:cNvPr id="31" name="Snip Diagonal Corner Rectangle 30"/>
          <p:cNvSpPr/>
          <p:nvPr/>
        </p:nvSpPr>
        <p:spPr>
          <a:xfrm>
            <a:off x="4663440" y="3785615"/>
            <a:ext cx="384048" cy="384048"/>
          </a:xfrm>
          <a:prstGeom prst="snip2Diag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63440" y="3840479"/>
            <a:ext cx="384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51AFDB"/>
                </a:solidFill>
                <a:latin typeface="Audiowide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3840479"/>
            <a:ext cx="32186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Karla"/>
              </a:rPr>
              <a:t>Controlled AI routing and 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498848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Objectives 8 to 10 are the engineering that makes the analysis trustworthy, private and affordable.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Proposed solution: ResearchForge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408176"/>
            <a:ext cx="1298448" cy="676656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Academic</a:t>
            </a:r>
          </a:p>
          <a:p>
            <a:pPr algn="ctr">
              <a:lnSpc>
                <a:spcPct val="92000"/>
              </a:lnSpc>
            </a:pPr>
            <a:r>
              <a:rPr sz="1000" b="0">
                <a:solidFill>
                  <a:srgbClr val="FFFFFF"/>
                </a:solidFill>
                <a:latin typeface="Karla"/>
              </a:rPr>
              <a:t>paper (PDF)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57400" y="1673352"/>
            <a:ext cx="201168" cy="146304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04288" y="1408176"/>
            <a:ext cx="1298448" cy="676656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Upload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648456" y="1673352"/>
            <a:ext cx="201168" cy="146304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95344" y="1408176"/>
            <a:ext cx="1298448" cy="676656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PDF text</a:t>
            </a:r>
          </a:p>
          <a:p>
            <a:pPr algn="ctr">
              <a:lnSpc>
                <a:spcPct val="92000"/>
              </a:lnSpc>
            </a:pPr>
            <a:r>
              <a:rPr sz="1000" b="0">
                <a:solidFill>
                  <a:srgbClr val="FFFFFF"/>
                </a:solidFill>
                <a:latin typeface="Karla"/>
              </a:rPr>
              <a:t>extraction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39512" y="1673352"/>
            <a:ext cx="201168" cy="146304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408176"/>
            <a:ext cx="1298448" cy="676656"/>
          </a:xfrm>
          <a:prstGeom prst="roundRect">
            <a:avLst/>
          </a:prstGeom>
          <a:solidFill>
            <a:srgbClr val="3B8794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AI analysis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830568" y="1673352"/>
            <a:ext cx="201168" cy="146304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408176"/>
            <a:ext cx="1298448" cy="676656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Structured</a:t>
            </a:r>
          </a:p>
          <a:p>
            <a:pPr algn="ctr">
              <a:lnSpc>
                <a:spcPct val="92000"/>
              </a:lnSpc>
            </a:pPr>
            <a:r>
              <a:rPr sz="1000" b="0">
                <a:solidFill>
                  <a:srgbClr val="FFFFFF"/>
                </a:solidFill>
                <a:latin typeface="Karla"/>
              </a:rPr>
              <a:t>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267712"/>
            <a:ext cx="1792224" cy="420624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Summary and key findings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267712"/>
            <a:ext cx="1792224" cy="420624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Research gaps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0288" y="2267712"/>
            <a:ext cx="1792224" cy="420624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Literature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28816" y="2267712"/>
            <a:ext cx="1792224" cy="420624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Research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871216"/>
            <a:ext cx="3950208" cy="1042415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51AFDB"/>
                </a:solidFill>
                <a:latin typeface="Karla"/>
              </a:rPr>
              <a:t>Cross-paper review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Several analysed papers from the user's own library can be reviewed together. The feature requires more than one paper.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968496"/>
            <a:ext cx="3950208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Every generated section is constrained to the uploaded document. Where the paper does not support a section, the system reports insufficient evidence.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0036" y="2766060"/>
            <a:ext cx="3602736" cy="1987154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03-dashboard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798064"/>
            <a:ext cx="3538728" cy="19231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Methodology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Requirements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698040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35200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System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FFFFFF"/>
                </a:solidFill>
                <a:latin typeface="Karla"/>
              </a:rPr>
              <a:t>design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20009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57169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Implementation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41978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79138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AI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FFFFFF"/>
                </a:solidFill>
                <a:latin typeface="Karla"/>
              </a:rPr>
              <a:t>integration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3947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01107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Database and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FFFFFF"/>
                </a:solidFill>
                <a:latin typeface="Karla"/>
              </a:rPr>
              <a:t>authentication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185915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23075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Testing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07884" y="1819656"/>
            <a:ext cx="128016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45044" y="1517904"/>
            <a:ext cx="975664" cy="74980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850" b="1">
                <a:solidFill>
                  <a:srgbClr val="FFFFFF"/>
                </a:solidFill>
                <a:latin typeface="Karla"/>
              </a:rPr>
              <a:t>Production</a:t>
            </a:r>
          </a:p>
          <a:p>
            <a:pPr algn="ctr">
              <a:lnSpc>
                <a:spcPct val="92000"/>
              </a:lnSpc>
            </a:pPr>
            <a:r>
              <a:rPr sz="850" b="0">
                <a:solidFill>
                  <a:srgbClr val="FFFFFF"/>
                </a:solidFill>
                <a:latin typeface="Karla"/>
              </a:rPr>
              <a:t>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542032"/>
            <a:ext cx="771753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1AFDB"/>
                </a:solidFill>
                <a:latin typeface="Audiowide"/>
              </a:rPr>
              <a:t>Incremental, milestone-based development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299466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2898648"/>
            <a:ext cx="749808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Thirteen milestones, each ending with a test and a review before the next began</a:t>
            </a:r>
          </a:p>
        </p:txBody>
      </p:sp>
      <p:sp>
        <p:nvSpPr>
          <p:cNvPr id="20" name="Oval 19"/>
          <p:cNvSpPr/>
          <p:nvPr/>
        </p:nvSpPr>
        <p:spPr>
          <a:xfrm>
            <a:off x="713232" y="334213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246120"/>
            <a:ext cx="749808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Design decisions driven by measurement, not assumption</a:t>
            </a:r>
          </a:p>
        </p:txBody>
      </p:sp>
      <p:sp>
        <p:nvSpPr>
          <p:cNvPr id="22" name="Oval 21"/>
          <p:cNvSpPr/>
          <p:nvPr/>
        </p:nvSpPr>
        <p:spPr>
          <a:xfrm>
            <a:off x="713232" y="368960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593592"/>
            <a:ext cx="749808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Retrieval was not built after measuring that whole papers fit the model context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03707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3941063"/>
            <a:ext cx="749808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Isolation moved into the database after a defect showed application filtering had failed silently</a:t>
            </a:r>
          </a:p>
        </p:txBody>
      </p:sp>
      <p:sp>
        <p:nvSpPr>
          <p:cNvPr id="26" name="Oval 25"/>
          <p:cNvSpPr/>
          <p:nvPr/>
        </p:nvSpPr>
        <p:spPr>
          <a:xfrm>
            <a:off x="713232" y="438454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288536"/>
            <a:ext cx="749808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Six additive-only migrations: no DROP, TRUNCATE or DELETE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System architecture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371600"/>
            <a:ext cx="1783080" cy="530352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User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23744" y="1572768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88336" y="1371600"/>
            <a:ext cx="1783080" cy="530352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Web interface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(Next.js / React)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98848" y="1572768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63440" y="1371600"/>
            <a:ext cx="1783080" cy="530352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FastAPI backend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authentication check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73952" y="1572768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38544" y="1371600"/>
            <a:ext cx="1783080" cy="530352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PDF extraction,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normalisation, SHA-256 hash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7461504" y="1865376"/>
            <a:ext cx="128016" cy="109728"/>
          </a:xfrm>
          <a:prstGeom prst="down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1956816"/>
            <a:ext cx="6199632" cy="18288"/>
          </a:xfrm>
          <a:prstGeom prst="rect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Down Arrow 12"/>
          <p:cNvSpPr/>
          <p:nvPr/>
        </p:nvSpPr>
        <p:spPr>
          <a:xfrm>
            <a:off x="1389888" y="1975104"/>
            <a:ext cx="128016" cy="237744"/>
          </a:xfrm>
          <a:prstGeom prst="down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2212848"/>
            <a:ext cx="1481328" cy="512064"/>
          </a:xfrm>
          <a:prstGeom prst="roundRect">
            <a:avLst/>
          </a:prstGeom>
          <a:solidFill>
            <a:srgbClr val="3B8794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Analysis cache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lookup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249424" y="2404872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68880" y="2212848"/>
            <a:ext cx="1389888" cy="51206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AI provider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router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895344" y="2404872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0" y="2011680"/>
            <a:ext cx="1828800" cy="438912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00" b="1">
                <a:solidFill>
                  <a:srgbClr val="FFFFFF"/>
                </a:solidFill>
                <a:latin typeface="Karla"/>
              </a:rPr>
              <a:t>Primary: Groq</a:t>
            </a:r>
          </a:p>
          <a:p>
            <a:pPr algn="ctr">
              <a:lnSpc>
                <a:spcPct val="92000"/>
              </a:lnSpc>
            </a:pPr>
            <a:r>
              <a:rPr sz="900" b="0">
                <a:solidFill>
                  <a:srgbClr val="FFFFFF"/>
                </a:solidFill>
                <a:latin typeface="Karla"/>
              </a:rPr>
              <a:t>qwen/qwen3.6-27b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23744"/>
            <a:ext cx="1828800" cy="438912"/>
          </a:xfrm>
          <a:prstGeom prst="roundRect">
            <a:avLst/>
          </a:prstGeom>
          <a:noFill/>
          <a:ln w="12700">
            <a:solidFill>
              <a:srgbClr val="3B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00" b="1">
                <a:solidFill>
                  <a:srgbClr val="FFFFFF"/>
                </a:solidFill>
                <a:latin typeface="Karla"/>
              </a:rPr>
              <a:t>Fallback: Anthropic</a:t>
            </a:r>
          </a:p>
          <a:p>
            <a:pPr algn="ctr">
              <a:lnSpc>
                <a:spcPct val="92000"/>
              </a:lnSpc>
            </a:pPr>
            <a:r>
              <a:rPr sz="900" b="0">
                <a:solidFill>
                  <a:srgbClr val="FFFFFF"/>
                </a:solidFill>
                <a:latin typeface="Karla"/>
              </a:rPr>
              <a:t>claude-opus-5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80176" y="2404872"/>
            <a:ext cx="164592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9632" y="2212848"/>
            <a:ext cx="1316736" cy="51206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Schema</a:t>
            </a:r>
          </a:p>
          <a:p>
            <a:pPr algn="ctr">
              <a:lnSpc>
                <a:spcPct val="92000"/>
              </a:lnSpc>
            </a:pPr>
            <a:r>
              <a:rPr sz="950" b="0">
                <a:solidFill>
                  <a:srgbClr val="FFFFFF"/>
                </a:solidFill>
                <a:latin typeface="Karla"/>
              </a:rPr>
              <a:t>validation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793992" y="2761488"/>
            <a:ext cx="128016" cy="164592"/>
          </a:xfrm>
          <a:prstGeom prst="down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60720" y="2999232"/>
            <a:ext cx="2670048" cy="566928"/>
          </a:xfrm>
          <a:prstGeom prst="roundRect">
            <a:avLst/>
          </a:prstGeom>
          <a:solidFill>
            <a:srgbClr val="3B8794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950" b="1">
                <a:solidFill>
                  <a:srgbClr val="FFFFFF"/>
                </a:solidFill>
                <a:latin typeface="Karla"/>
              </a:rPr>
              <a:t>Supabase PostgreSQL - Row Level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602736"/>
            <a:ext cx="267004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B8CEE4"/>
                </a:solidFill>
                <a:latin typeface="Karla"/>
              </a:rPr>
              <a:t>Results filtered by the signed-in 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017520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A cache hit returns the stored analysis with no model call. A miss goes to the primary provider, with one fallback attempt permitted for an allowed retryable failure.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096512"/>
            <a:ext cx="7717536" cy="603504"/>
          </a:xfrm>
          <a:prstGeom prst="roundRect">
            <a:avLst/>
          </a:prstGeom>
          <a:noFill/>
          <a:ln w="9525">
            <a:solidFill>
              <a:srgbClr val="B8C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1248" y="4169663"/>
            <a:ext cx="7461504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B8CEE4"/>
                </a:solidFill>
                <a:latin typeface="Karla"/>
              </a:rPr>
              <a:t>Prepared scaffolding, not production: </a:t>
            </a:r>
            <a:r>
              <a:rPr sz="950" b="0">
                <a:solidFill>
                  <a:srgbClr val="B8CEE4"/>
                </a:solidFill>
                <a:latin typeface="Karla"/>
              </a:rPr>
              <a:t>Jina embeddings, pgvector and the chunks table exist in the repository but are not called during analysis.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The pipeline is full-document grounded generation, not RAG.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AI model implementation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26464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Audiowide"/>
              </a:rPr>
              <a:t>INFERENCE, NOT TRAINING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84251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Karla"/>
              </a:rPr>
              <a:t>Primary: </a:t>
            </a:r>
            <a:r>
              <a:rPr sz="1150" b="0">
                <a:solidFill>
                  <a:srgbClr val="FFFFFF"/>
                </a:solidFill>
                <a:latin typeface="Karla"/>
              </a:rPr>
              <a:t>Groq </a:t>
            </a:r>
            <a:r>
              <a:rPr sz="1150" b="0">
                <a:solidFill>
                  <a:srgbClr val="51AFDB"/>
                </a:solidFill>
                <a:latin typeface="Karla"/>
              </a:rPr>
              <a:t>qwen/qwen3.6-27b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20827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12264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Karla"/>
              </a:rPr>
              <a:t>Fallback: </a:t>
            </a:r>
            <a:r>
              <a:rPr sz="1150" b="0">
                <a:solidFill>
                  <a:srgbClr val="FFFFFF"/>
                </a:solidFill>
                <a:latin typeface="Karla"/>
              </a:rPr>
              <a:t>Anthropic </a:t>
            </a:r>
            <a:r>
              <a:rPr sz="1150" b="0">
                <a:solidFill>
                  <a:srgbClr val="51AFDB"/>
                </a:solidFill>
                <a:latin typeface="Karla"/>
              </a:rPr>
              <a:t>claude-opus-5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257403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478024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Three structured passes: summary, gaps, review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293979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843784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Whole uploaded document supplied as grounding context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330555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209544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Output validated against a declared schema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" y="3671315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3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Invalid output is discarded, never repaired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403707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3941063"/>
            <a:ext cx="426110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Provenance recorded: provider, model, fallback,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1389888"/>
            <a:ext cx="2990088" cy="184708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3B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577840" y="1463040"/>
            <a:ext cx="2715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3B8794"/>
                </a:solidFill>
                <a:latin typeface="Audiowide"/>
              </a:rPr>
              <a:t>CONTROLLED ROUTING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1755648"/>
            <a:ext cx="2715768" cy="14264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The owner selects one global primary provider; the other enabled provider becomes the fallback.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Normal users cannot switch providers. There is no auto option.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Karla"/>
              </a:rPr>
              <a:t>One fallback attempt only, for allowed retryable failures.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8676" y="3314700"/>
            <a:ext cx="3054096" cy="1688992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10-settings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346704"/>
            <a:ext cx="2990088" cy="1624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Key system features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1228" y="1394460"/>
            <a:ext cx="4050792" cy="2230653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5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26464"/>
            <a:ext cx="3986784" cy="21666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3702837"/>
            <a:ext cx="39867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One upload produces summary, key findings, gaps and review</a:t>
            </a:r>
          </a:p>
        </p:txBody>
      </p:sp>
      <p:sp>
        <p:nvSpPr>
          <p:cNvPr id="7" name="Oval 6"/>
          <p:cNvSpPr/>
          <p:nvPr/>
        </p:nvSpPr>
        <p:spPr>
          <a:xfrm>
            <a:off x="4956048" y="153162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175504" y="1435608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PDF upload and text extraction</a:t>
            </a:r>
          </a:p>
        </p:txBody>
      </p:sp>
      <p:sp>
        <p:nvSpPr>
          <p:cNvPr id="9" name="Oval 8"/>
          <p:cNvSpPr/>
          <p:nvPr/>
        </p:nvSpPr>
        <p:spPr>
          <a:xfrm>
            <a:off x="4956048" y="191566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75504" y="1819656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Scanned documents rejected, not analysed</a:t>
            </a:r>
          </a:p>
        </p:txBody>
      </p:sp>
      <p:sp>
        <p:nvSpPr>
          <p:cNvPr id="11" name="Oval 10"/>
          <p:cNvSpPr/>
          <p:nvPr/>
        </p:nvSpPr>
        <p:spPr>
          <a:xfrm>
            <a:off x="4956048" y="229971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175504" y="2203704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Structured summary and key findings</a:t>
            </a:r>
          </a:p>
        </p:txBody>
      </p:sp>
      <p:sp>
        <p:nvSpPr>
          <p:cNvPr id="13" name="Oval 12"/>
          <p:cNvSpPr/>
          <p:nvPr/>
        </p:nvSpPr>
        <p:spPr>
          <a:xfrm>
            <a:off x="4956048" y="268376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75504" y="2587752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Research gaps and stated limitations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4956048" y="306781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75504" y="2971800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Literature review content</a:t>
            </a:r>
          </a:p>
        </p:txBody>
      </p:sp>
      <p:sp>
        <p:nvSpPr>
          <p:cNvPr id="17" name="Oval 16"/>
          <p:cNvSpPr/>
          <p:nvPr/>
        </p:nvSpPr>
        <p:spPr>
          <a:xfrm>
            <a:off x="4956048" y="345186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5504" y="3355848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Cross-paper review across saved papers</a:t>
            </a:r>
          </a:p>
        </p:txBody>
      </p:sp>
      <p:sp>
        <p:nvSpPr>
          <p:cNvPr id="19" name="Oval 18"/>
          <p:cNvSpPr/>
          <p:nvPr/>
        </p:nvSpPr>
        <p:spPr>
          <a:xfrm>
            <a:off x="4956048" y="383590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75504" y="3739896"/>
            <a:ext cx="325526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Private per-user research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3986784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Each section is generated from the uploaded document only, and validated against a declared schema before it is stored.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Research gaps and literature review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1228" y="1431036"/>
            <a:ext cx="3593591" cy="1982185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6-g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529584" cy="1918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3472657"/>
            <a:ext cx="35295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Karla"/>
              </a:rPr>
              <a:t>Research gaps and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9180" y="1431036"/>
            <a:ext cx="3593591" cy="1982185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7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463040"/>
            <a:ext cx="3529584" cy="1918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01184" y="3472657"/>
            <a:ext cx="35295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Karla"/>
              </a:rPr>
              <a:t>Cross-paper literature review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389077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794759"/>
            <a:ext cx="7498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Gaps are drawn from the limitations the authors state and the future work they propose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4165091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69079"/>
            <a:ext cx="7498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Literature review content covers themes, comparisons with prior work and future directions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443941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343399"/>
            <a:ext cx="7498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Cross-paper review compares several analysed papers; it requires more than one paper</a:t>
            </a:r>
          </a:p>
        </p:txBody>
      </p:sp>
      <p:sp>
        <p:nvSpPr>
          <p:cNvPr id="16" name="Oval 15"/>
          <p:cNvSpPr/>
          <p:nvPr/>
        </p:nvSpPr>
        <p:spPr>
          <a:xfrm>
            <a:off x="713232" y="4713731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617719"/>
            <a:ext cx="74980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Where the paper does not support a section, the system reports insufficient 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Authentication and data ownership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" y="153162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32688" y="143560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Email and password sign-in, plus Google sign-in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89738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80136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Password reset and account settings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26314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16712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Private per-user research library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262890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53288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Ownership enforced by PostgreSQL Row Level Security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299466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9864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Owner rights resolved server-side, not in the browser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36042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64408"/>
            <a:ext cx="394106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Karla"/>
              </a:rPr>
              <a:t>No password is stored by this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767328"/>
            <a:ext cx="4160520" cy="932688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3858768"/>
            <a:ext cx="3904487" cy="7680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Karla"/>
              </a:rPr>
              <a:t>User A cannot access User B's private records.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Verified live: 26 isolation checks, 0 failures, including a direct database query that bypassed the application and returned zero rows.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6924" y="1431036"/>
            <a:ext cx="3355848" cy="1852981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08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463040"/>
            <a:ext cx="3291840" cy="178897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106924" y="3278124"/>
            <a:ext cx="3355848" cy="1852981"/>
          </a:xfrm>
          <a:prstGeom prst="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09-settings-acc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3310128"/>
            <a:ext cx="3291840" cy="178897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Same-paper analysis cache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389888"/>
            <a:ext cx="1572768" cy="42062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PDF upload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13432" y="1536192"/>
            <a:ext cx="182880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96312" y="1389888"/>
            <a:ext cx="1572768" cy="42062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Text extraction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96512" y="1536192"/>
            <a:ext cx="182880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79392" y="1389888"/>
            <a:ext cx="1572768" cy="42062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Normalisation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79592" y="1536192"/>
            <a:ext cx="182880" cy="128016"/>
          </a:xfrm>
          <a:prstGeom prst="right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62472" y="1389888"/>
            <a:ext cx="1572768" cy="420624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00" b="1">
                <a:solidFill>
                  <a:srgbClr val="FFFFFF"/>
                </a:solidFill>
                <a:latin typeface="Karla"/>
              </a:rPr>
              <a:t>SHA-256 hash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507992" y="1865376"/>
            <a:ext cx="128016" cy="146304"/>
          </a:xfrm>
          <a:prstGeom prst="downArrow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01568" y="2066543"/>
            <a:ext cx="2331720" cy="420624"/>
          </a:xfrm>
          <a:prstGeom prst="roundRect">
            <a:avLst/>
          </a:prstGeom>
          <a:solidFill>
            <a:srgbClr val="3B8794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lnSpc>
                <a:spcPct val="92000"/>
              </a:lnSpc>
            </a:pPr>
            <a:r>
              <a:rPr sz="1050" b="1">
                <a:solidFill>
                  <a:srgbClr val="FFFFFF"/>
                </a:solidFill>
                <a:latin typeface="Karla"/>
              </a:rPr>
              <a:t>Cache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70048"/>
            <a:ext cx="3803904" cy="1335024"/>
          </a:xfrm>
          <a:prstGeom prst="roundRect">
            <a:avLst/>
          </a:prstGeom>
          <a:noFill/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2734056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51AFDB"/>
                </a:solidFill>
                <a:latin typeface="Audiowide"/>
              </a:rPr>
              <a:t>HIT - existing valid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3566160" cy="9692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Reuse the stored analysis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Create this user's own private record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Karla"/>
              </a:rPr>
              <a:t>Display result - 0 AI calls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1AFDB"/>
                </a:solidFill>
                <a:latin typeface="Karla"/>
              </a:rPr>
              <a:t>Observed: 3.2 s same user, 2.7 s another 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2670048"/>
            <a:ext cx="3803904" cy="1335024"/>
          </a:xfrm>
          <a:prstGeom prst="roundRect">
            <a:avLst/>
          </a:prstGeom>
          <a:noFill/>
          <a:ln w="12700">
            <a:solidFill>
              <a:srgbClr val="3B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36592" y="2734056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3B8794"/>
                </a:solidFill>
                <a:latin typeface="Audiowide"/>
              </a:rPr>
              <a:t>MISS - no stored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2990088"/>
            <a:ext cx="3566160" cy="9692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Run AI analysis and validate the response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Store the analysis and the cache entry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Karla"/>
              </a:rPr>
              <a:t>Only successful analyses are cached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3B8794"/>
                </a:solidFill>
                <a:latin typeface="Karla"/>
              </a:rPr>
              <a:t>Observed: 32.4 s with three AI calls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7717536" cy="566928"/>
          </a:xfrm>
          <a:prstGeom prst="roundRect">
            <a:avLst/>
          </a:prstGeom>
          <a:solidFill>
            <a:srgbClr val="103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4206240"/>
            <a:ext cx="7461504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Karla"/>
              </a:rPr>
              <a:t>The cache is global internal infrastructure, not a shared library.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Each user keeps their own private record, the original uploader is never revealed, and Row Level Security still applies.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Testing and evaluation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08176"/>
            <a:ext cx="1810512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51AFDB"/>
                </a:solidFill>
                <a:latin typeface="Audiowide"/>
              </a:rPr>
              <a:t>522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83664"/>
            <a:ext cx="18105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backend tests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passing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408176"/>
            <a:ext cx="1810512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51AFDB"/>
                </a:solidFill>
                <a:latin typeface="Audiowide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883664"/>
            <a:ext cx="18105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frontend tests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passing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408176"/>
            <a:ext cx="1810512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51AFDB"/>
                </a:solidFill>
                <a:latin typeface="Audiowide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883664"/>
            <a:ext cx="18105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live isolation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checks 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408176"/>
            <a:ext cx="1810512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51AFDB"/>
                </a:solidFill>
                <a:latin typeface="Audiowide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1883664"/>
            <a:ext cx="18105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failing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23744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51AFDB"/>
                </a:solidFill>
                <a:latin typeface="Audiowide"/>
              </a:rPr>
              <a:t>VERIFIED ON THE CURRENT REPOSITORY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295808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2862072"/>
            <a:ext cx="36210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Unit testing against fakes, so the suite runs offline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" y="332384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227832"/>
            <a:ext cx="36210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Integration and API testing on the deployed system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68960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3593592"/>
            <a:ext cx="36210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Authentication and session testing</a:t>
            </a:r>
          </a:p>
        </p:txBody>
      </p:sp>
      <p:sp>
        <p:nvSpPr>
          <p:cNvPr id="19" name="Oval 18"/>
          <p:cNvSpPr/>
          <p:nvPr/>
        </p:nvSpPr>
        <p:spPr>
          <a:xfrm>
            <a:off x="713232" y="405536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3959352"/>
            <a:ext cx="362102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User ownership and Row Level Security 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4663440" y="295808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82896" y="2862072"/>
            <a:ext cx="352958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AI provider and fallback testing</a:t>
            </a:r>
          </a:p>
        </p:txBody>
      </p:sp>
      <p:sp>
        <p:nvSpPr>
          <p:cNvPr id="23" name="Oval 22"/>
          <p:cNvSpPr/>
          <p:nvPr/>
        </p:nvSpPr>
        <p:spPr>
          <a:xfrm>
            <a:off x="4663440" y="332384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882896" y="3227832"/>
            <a:ext cx="352958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Cache testing with four independent signals</a:t>
            </a:r>
          </a:p>
        </p:txBody>
      </p:sp>
      <p:sp>
        <p:nvSpPr>
          <p:cNvPr id="25" name="Oval 24"/>
          <p:cNvSpPr/>
          <p:nvPr/>
        </p:nvSpPr>
        <p:spPr>
          <a:xfrm>
            <a:off x="4663440" y="368960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82896" y="3593592"/>
            <a:ext cx="352958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Responsive testing on a real device</a:t>
            </a:r>
          </a:p>
        </p:txBody>
      </p:sp>
      <p:sp>
        <p:nvSpPr>
          <p:cNvPr id="27" name="Oval 26"/>
          <p:cNvSpPr/>
          <p:nvPr/>
        </p:nvSpPr>
        <p:spPr>
          <a:xfrm>
            <a:off x="4663440" y="405536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82896" y="3959352"/>
            <a:ext cx="3529583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Karla"/>
              </a:rPr>
              <a:t>Ruff, TypeScript and production build all clean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443984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5 further tests call live providers and are skipped by design. No model accuracy value is claimed: there is no labelled benchmark.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Results and achievements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08176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51AFDB"/>
                </a:solidFill>
                <a:latin typeface="Audiowide"/>
              </a:rPr>
              <a:t>OBSERVED IN THE TESTED SCENARIOS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55648"/>
            <a:ext cx="3931920" cy="420624"/>
          </a:xfrm>
          <a:prstGeom prst="roundRect">
            <a:avLst/>
          </a:prstGeom>
          <a:solidFill>
            <a:srgbClr val="103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837943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Cache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1819656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Karla"/>
              </a:rPr>
              <a:t>32.4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37943"/>
            <a:ext cx="7863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3 AI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49424"/>
            <a:ext cx="3931920" cy="420624"/>
          </a:xfrm>
          <a:prstGeom prst="roundRect">
            <a:avLst/>
          </a:prstGeom>
          <a:solidFill>
            <a:srgbClr val="103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" y="2331720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Cache hit, same 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2313432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Karla"/>
              </a:rPr>
              <a:t>3.2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31720"/>
            <a:ext cx="7863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0 AI calls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43200"/>
            <a:ext cx="3931920" cy="420624"/>
          </a:xfrm>
          <a:prstGeom prst="roundRect">
            <a:avLst/>
          </a:prstGeom>
          <a:solidFill>
            <a:srgbClr val="103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282549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Cache hit, different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Karla"/>
              </a:rPr>
              <a:t>2.7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825496"/>
            <a:ext cx="78638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B8CEE4"/>
                </a:solidFill>
                <a:latin typeface="Karla"/>
              </a:rPr>
              <a:t>0 AI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291840"/>
            <a:ext cx="3931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A repeated analysis costs about a tenth of the time and no tokens, while each user keeps a separate private record.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01184" y="1719072"/>
            <a:ext cx="3529584" cy="2139696"/>
          </a:xfrm>
          <a:prstGeom prst="roundRect">
            <a:avLst/>
          </a:prstGeom>
          <a:noFill/>
          <a:ln w="12700">
            <a:solidFill>
              <a:srgbClr val="3B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0" y="1810512"/>
            <a:ext cx="327355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3B8794"/>
                </a:solidFill>
                <a:latin typeface="Audiowide"/>
              </a:rPr>
              <a:t>PROVIDER FINDING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103120"/>
            <a:ext cx="3273552" cy="16824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Under the owner's configuration all five evaluation papers completed, but every one was produced by the fallback provider.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Karla"/>
              </a:rPr>
              <a:t>At its free service tier the primary provider allows 7,000 input tokens per minute, while the papers required 7,920 to 20,362 in a single request.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51AFDB"/>
                </a:solidFill>
                <a:latin typeface="Karla"/>
              </a:rPr>
              <a:t>The fallback worked correctly - and in doing so concealed that the primary was unusable.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41648"/>
            <a:ext cx="771753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B8CEE4"/>
                </a:solidFill>
                <a:latin typeface="Karla"/>
              </a:rPr>
              <a:t>Isolation verified live: 26 checks, 0 failures. Deployed and publicly reachable. No universal performance claim is made.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Audiowide"/>
              </a:rPr>
              <a:t>Conclusion and future work</a:t>
            </a:r>
          </a:p>
        </p:txBody>
      </p:sp>
      <p:sp>
        <p:nvSpPr>
          <p:cNvPr id="3" name="Snip Diagonal Corner Rectangle 2"/>
          <p:cNvSpPr/>
          <p:nvPr/>
        </p:nvSpPr>
        <p:spPr>
          <a:xfrm>
            <a:off x="713232" y="512064"/>
            <a:ext cx="7708392" cy="630936"/>
          </a:xfrm>
          <a:prstGeom prst="snip2Diag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08176"/>
            <a:ext cx="7717536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Karla"/>
              </a:rPr>
              <a:t>ResearchForge provides an AI-assisted workflow for analysing academic research papers and extracting structured research insights.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048256"/>
            <a:ext cx="3803904" cy="2231136"/>
          </a:xfrm>
          <a:prstGeom prst="roundRect">
            <a:avLst/>
          </a:prstGeom>
          <a:solidFill>
            <a:srgbClr val="10355F"/>
          </a:solidFill>
          <a:ln w="12700">
            <a:solidFill>
              <a:srgbClr val="51A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351129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1AFDB"/>
                </a:solidFill>
                <a:latin typeface="Audiowide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859536" y="253746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78992" y="2441448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Upload, extraction and AI analysis</a:t>
            </a:r>
          </a:p>
        </p:txBody>
      </p:sp>
      <p:sp>
        <p:nvSpPr>
          <p:cNvPr id="9" name="Oval 8"/>
          <p:cNvSpPr/>
          <p:nvPr/>
        </p:nvSpPr>
        <p:spPr>
          <a:xfrm>
            <a:off x="859536" y="282092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78992" y="2724912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Research gaps and literature review</a:t>
            </a:r>
          </a:p>
        </p:txBody>
      </p:sp>
      <p:sp>
        <p:nvSpPr>
          <p:cNvPr id="11" name="Oval 10"/>
          <p:cNvSpPr/>
          <p:nvPr/>
        </p:nvSpPr>
        <p:spPr>
          <a:xfrm>
            <a:off x="859536" y="310438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78992" y="3008376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Cross-paper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859536" y="338785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78992" y="3291840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Authentication and per-user ownership</a:t>
            </a:r>
          </a:p>
        </p:txBody>
      </p:sp>
      <p:sp>
        <p:nvSpPr>
          <p:cNvPr id="15" name="Oval 14"/>
          <p:cNvSpPr/>
          <p:nvPr/>
        </p:nvSpPr>
        <p:spPr>
          <a:xfrm>
            <a:off x="859536" y="367131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78992" y="3575304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Provider routing with one fallback</a:t>
            </a:r>
          </a:p>
        </p:txBody>
      </p:sp>
      <p:sp>
        <p:nvSpPr>
          <p:cNvPr id="17" name="Oval 16"/>
          <p:cNvSpPr/>
          <p:nvPr/>
        </p:nvSpPr>
        <p:spPr>
          <a:xfrm>
            <a:off x="859536" y="395478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78992" y="3858768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Same-paper analysis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6864" y="2048256"/>
            <a:ext cx="3803904" cy="2231136"/>
          </a:xfrm>
          <a:prstGeom prst="roundRect">
            <a:avLst/>
          </a:prstGeom>
          <a:noFill/>
          <a:ln w="12700">
            <a:solidFill>
              <a:srgbClr val="3B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2139696"/>
            <a:ext cx="351129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3B8794"/>
                </a:solidFill>
                <a:latin typeface="Audiowide"/>
              </a:rPr>
              <a:t>FUTURE WORK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253746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92624" y="2441448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Production vector retrieval (RAG)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2820924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92624" y="2724912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Stronger retrieval and ranking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3104388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92624" y="3008376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Citation-aware evidence linking</a:t>
            </a:r>
          </a:p>
        </p:txBody>
      </p:sp>
      <p:sp>
        <p:nvSpPr>
          <p:cNvPr id="27" name="Oval 26"/>
          <p:cNvSpPr/>
          <p:nvPr/>
        </p:nvSpPr>
        <p:spPr>
          <a:xfrm>
            <a:off x="4773168" y="3387852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992624" y="3291840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Larger benchmark and human evaluation</a:t>
            </a:r>
          </a:p>
        </p:txBody>
      </p:sp>
      <p:sp>
        <p:nvSpPr>
          <p:cNvPr id="29" name="Oval 28"/>
          <p:cNvSpPr/>
          <p:nvPr/>
        </p:nvSpPr>
        <p:spPr>
          <a:xfrm>
            <a:off x="4773168" y="3671316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92624" y="3575304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Document versioning and multilingual support</a:t>
            </a:r>
          </a:p>
        </p:txBody>
      </p:sp>
      <p:sp>
        <p:nvSpPr>
          <p:cNvPr id="31" name="Oval 30"/>
          <p:cNvSpPr/>
          <p:nvPr/>
        </p:nvSpPr>
        <p:spPr>
          <a:xfrm>
            <a:off x="4773168" y="3954780"/>
            <a:ext cx="96012" cy="96012"/>
          </a:xfrm>
          <a:prstGeom prst="ellipse">
            <a:avLst/>
          </a:prstGeom>
          <a:solidFill>
            <a:srgbClr val="51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92624" y="3858768"/>
            <a:ext cx="3291839" cy="4663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Karla"/>
              </a:rPr>
              <a:t>Richer research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407408"/>
            <a:ext cx="771753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51AFDB"/>
                </a:solidFill>
                <a:latin typeface="Audiowide"/>
              </a:rPr>
              <a:t>researchforge.rukon.dev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yber-Futuristic AI Technology Thesis Defense by Slidesgo">
  <a:themeElements>
    <a:clrScheme name="Simple Light">
      <a:dk1>
        <a:srgbClr val="031126"/>
      </a:dk1>
      <a:lt1>
        <a:srgbClr val="FFFFFF"/>
      </a:lt1>
      <a:dk2>
        <a:srgbClr val="10355F"/>
      </a:dk2>
      <a:lt2>
        <a:srgbClr val="3B8794"/>
      </a:lt2>
      <a:accent1>
        <a:srgbClr val="51AFDB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