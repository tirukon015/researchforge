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3" r:id="rId18"/>
  </p:sldIdLst>
  <p:sldSz cx="9144000" cy="5143500" type="screen16x9"/>
  <p:notesSz cx="6858000" cy="9144000"/>
  <p:embeddedFontLst>
    <p:embeddedFont>
      <p:font typeface="Audiowide" panose="020B0604020202020204" charset="0"/>
      <p:regular r:id="rId20"/>
    </p:embeddedFont>
    <p:embeddedFont>
      <p:font typeface="Karla" pitchFamily="2" charset="0"/>
      <p:regular r:id="rId21"/>
      <p:bold r:id="rId22"/>
      <p:italic r:id="rId23"/>
      <p:boldItalic r:id="rId24"/>
    </p:embeddedFont>
    <p:embeddedFont>
      <p:font typeface="Proxima Nova" panose="020B0604020202020204" charset="0"/>
      <p:regular r:id="rId25"/>
      <p:bold r:id="rId26"/>
      <p:italic r:id="rId27"/>
      <p:boldItalic r:id="rId28"/>
    </p:embeddedFont>
    <p:embeddedFont>
      <p:font typeface="Proxima Nova Semibold" panose="020B0604020202020204" charset="0"/>
      <p:regular r:id="rId29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167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1C938D-0C6E-4217-97B5-CAE369AEE5C4}">
  <a:tblStyle styleId="{F41C938D-0C6E-4217-97B5-CAE369AEE5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6" d="100"/>
          <a:sy n="136" d="100"/>
        </p:scale>
        <p:origin x="-72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cc9050bdf8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cc9050bdf8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25850" y="3778500"/>
            <a:ext cx="5892300" cy="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1050" y="-447675"/>
            <a:ext cx="5892301" cy="3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261050" y="1962150"/>
            <a:ext cx="5892301" cy="36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491888" y="1682463"/>
            <a:ext cx="3312300" cy="111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7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4491888" y="2851113"/>
            <a:ext cx="3312300" cy="6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1931113" y="1872250"/>
            <a:ext cx="1728900" cy="118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5800" y="-419100"/>
            <a:ext cx="6190054" cy="383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352926" y="1967775"/>
            <a:ext cx="5790899" cy="35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1684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825300" y="-371475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5048253" y="23982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 amt="75000"/>
          </a:blip>
          <a:srcRect l="17266" t="16653"/>
          <a:stretch/>
        </p:blipFill>
        <p:spPr>
          <a:xfrm rot="10800000">
            <a:off x="4688049" y="2278552"/>
            <a:ext cx="4684549" cy="2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2">
            <a:alphaModFix amt="75000"/>
          </a:blip>
          <a:srcRect l="16618" t="14668"/>
          <a:stretch/>
        </p:blipFill>
        <p:spPr>
          <a:xfrm rot="4">
            <a:off x="-57150" y="-190497"/>
            <a:ext cx="4810127" cy="304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1605775" y="3703499"/>
            <a:ext cx="2846700" cy="7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4688050" y="3703499"/>
            <a:ext cx="2846700" cy="7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1605779" y="3328943"/>
            <a:ext cx="2846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4688055" y="3328943"/>
            <a:ext cx="2846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 amt="75000"/>
          </a:blip>
          <a:srcRect l="24087" t="19904"/>
          <a:stretch/>
        </p:blipFill>
        <p:spPr>
          <a:xfrm>
            <a:off x="-104775" y="-85500"/>
            <a:ext cx="3714749" cy="242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75000"/>
          </a:blip>
          <a:srcRect l="22039" t="14089"/>
          <a:stretch/>
        </p:blipFill>
        <p:spPr>
          <a:xfrm rot="-10799995">
            <a:off x="5705475" y="2752926"/>
            <a:ext cx="3629025" cy="247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4381506" y="887025"/>
            <a:ext cx="4038600" cy="95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4381500" y="1843575"/>
            <a:ext cx="4038600" cy="24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pic>
        <p:nvPicPr>
          <p:cNvPr id="63" name="Google Shape;63;p7"/>
          <p:cNvPicPr preferRelativeResize="0"/>
          <p:nvPr/>
        </p:nvPicPr>
        <p:blipFill rotWithShape="1">
          <a:blip r:embed="rId3">
            <a:alphaModFix amt="75000"/>
          </a:blip>
          <a:srcRect l="24156" t="16304"/>
          <a:stretch/>
        </p:blipFill>
        <p:spPr>
          <a:xfrm rot="5400000">
            <a:off x="5767588" y="527636"/>
            <a:ext cx="4294574" cy="29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2005350" y="1506750"/>
            <a:ext cx="5133300" cy="213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0" name="Google Shape;70;p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5400000">
            <a:off x="4270575" y="37800"/>
            <a:ext cx="6816287" cy="422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5399997">
            <a:off x="-1890149" y="942974"/>
            <a:ext cx="6692275" cy="41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970400" y="1168075"/>
            <a:ext cx="3133800" cy="18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970400" y="3167250"/>
            <a:ext cx="3133800" cy="8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9" name="Google Shape;79;p9"/>
          <p:cNvPicPr preferRelativeResize="0"/>
          <p:nvPr/>
        </p:nvPicPr>
        <p:blipFill rotWithShape="1">
          <a:blip r:embed="rId3">
            <a:alphaModFix amt="75000"/>
          </a:blip>
          <a:srcRect l="19107" t="4943"/>
          <a:stretch/>
        </p:blipFill>
        <p:spPr>
          <a:xfrm rot="-5400000">
            <a:off x="-727588" y="1263239"/>
            <a:ext cx="4580326" cy="333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 rot="300">
            <a:off x="720000" y="3295650"/>
            <a:ext cx="3433500" cy="120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1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1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title" hasCustomPrompt="1"/>
          </p:nvPr>
        </p:nvSpPr>
        <p:spPr>
          <a:xfrm rot="186">
            <a:off x="977225" y="1686338"/>
            <a:ext cx="5538000" cy="123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8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"/>
          </p:nvPr>
        </p:nvSpPr>
        <p:spPr>
          <a:xfrm>
            <a:off x="977225" y="2821638"/>
            <a:ext cx="55380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93" name="Google Shape;93;p11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 rot="6015032">
            <a:off x="3802652" y="445901"/>
            <a:ext cx="7113000" cy="440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1"/>
          <p:cNvPicPr preferRelativeResize="0"/>
          <p:nvPr/>
        </p:nvPicPr>
        <p:blipFill rotWithShape="1">
          <a:blip r:embed="rId3">
            <a:alphaModFix amt="75000"/>
          </a:blip>
          <a:srcRect l="-60" t="537"/>
          <a:stretch/>
        </p:blipFill>
        <p:spPr>
          <a:xfrm rot="-5399997">
            <a:off x="-1590800" y="1404054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713224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713224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2"/>
          </p:nvPr>
        </p:nvSpPr>
        <p:spPr>
          <a:xfrm>
            <a:off x="713224" y="3680488"/>
            <a:ext cx="23055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3"/>
          </p:nvPr>
        </p:nvSpPr>
        <p:spPr>
          <a:xfrm>
            <a:off x="713224" y="41146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4"/>
          </p:nvPr>
        </p:nvSpPr>
        <p:spPr>
          <a:xfrm>
            <a:off x="3419251" y="3680488"/>
            <a:ext cx="23055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5"/>
          </p:nvPr>
        </p:nvSpPr>
        <p:spPr>
          <a:xfrm>
            <a:off x="3419251" y="41146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6"/>
          </p:nvPr>
        </p:nvSpPr>
        <p:spPr>
          <a:xfrm>
            <a:off x="3419251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7"/>
          </p:nvPr>
        </p:nvSpPr>
        <p:spPr>
          <a:xfrm>
            <a:off x="3419251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8" hasCustomPrompt="1"/>
          </p:nvPr>
        </p:nvSpPr>
        <p:spPr>
          <a:xfrm>
            <a:off x="1415374" y="13447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9" hasCustomPrompt="1"/>
          </p:nvPr>
        </p:nvSpPr>
        <p:spPr>
          <a:xfrm>
            <a:off x="4121401" y="319002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3" hasCustomPrompt="1"/>
          </p:nvPr>
        </p:nvSpPr>
        <p:spPr>
          <a:xfrm>
            <a:off x="1415374" y="319002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4" hasCustomPrompt="1"/>
          </p:nvPr>
        </p:nvSpPr>
        <p:spPr>
          <a:xfrm>
            <a:off x="4121401" y="13447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5"/>
          </p:nvPr>
        </p:nvSpPr>
        <p:spPr>
          <a:xfrm>
            <a:off x="6125276" y="3680488"/>
            <a:ext cx="23055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6"/>
          </p:nvPr>
        </p:nvSpPr>
        <p:spPr>
          <a:xfrm>
            <a:off x="6125276" y="41146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17"/>
          </p:nvPr>
        </p:nvSpPr>
        <p:spPr>
          <a:xfrm>
            <a:off x="6125276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8"/>
          </p:nvPr>
        </p:nvSpPr>
        <p:spPr>
          <a:xfrm>
            <a:off x="6125276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19" hasCustomPrompt="1"/>
          </p:nvPr>
        </p:nvSpPr>
        <p:spPr>
          <a:xfrm>
            <a:off x="6827426" y="319002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20" hasCustomPrompt="1"/>
          </p:nvPr>
        </p:nvSpPr>
        <p:spPr>
          <a:xfrm>
            <a:off x="6827426" y="13447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pic>
        <p:nvPicPr>
          <p:cNvPr id="119" name="Google Shape;119;p1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5400000">
            <a:off x="-1377750" y="2269750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5400000">
            <a:off x="5366340" y="829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>
            <a:spLocks noGrp="1"/>
          </p:cNvSpPr>
          <p:nvPr>
            <p:ph type="title" idx="21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4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1486024" y="3068248"/>
            <a:ext cx="61722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subTitle" idx="1"/>
          </p:nvPr>
        </p:nvSpPr>
        <p:spPr>
          <a:xfrm>
            <a:off x="1485800" y="1628863"/>
            <a:ext cx="6172200" cy="149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>
            <a:off x="-1436100" y="-758750"/>
            <a:ext cx="6816174" cy="422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 amt="75000"/>
          </a:blip>
          <a:srcRect l="-60" t="537"/>
          <a:stretch/>
        </p:blipFill>
        <p:spPr>
          <a:xfrm rot="-10799997">
            <a:off x="4648077" y="187642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title"/>
          </p:nvPr>
        </p:nvSpPr>
        <p:spPr>
          <a:xfrm>
            <a:off x="964750" y="1536350"/>
            <a:ext cx="2947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1"/>
          </p:nvPr>
        </p:nvSpPr>
        <p:spPr>
          <a:xfrm rot="350">
            <a:off x="964550" y="2381675"/>
            <a:ext cx="2947500" cy="140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 amt="75000"/>
          </a:blip>
          <a:srcRect l="20572" t="8876"/>
          <a:stretch/>
        </p:blipFill>
        <p:spPr>
          <a:xfrm rot="10800000">
            <a:off x="4713096" y="1967777"/>
            <a:ext cx="4497577" cy="319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3">
            <a:alphaModFix amt="75000"/>
          </a:blip>
          <a:srcRect l="20886" t="8232"/>
          <a:stretch/>
        </p:blipFill>
        <p:spPr>
          <a:xfrm rot="4">
            <a:off x="-66675" y="-190497"/>
            <a:ext cx="4563850" cy="327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1"/>
          </p:nvPr>
        </p:nvSpPr>
        <p:spPr>
          <a:xfrm>
            <a:off x="720000" y="1456400"/>
            <a:ext cx="7704000" cy="259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 b="1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 rot="5400000">
            <a:off x="5369415" y="-442041"/>
            <a:ext cx="5662423" cy="350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3">
            <a:alphaModFix amt="75000"/>
          </a:blip>
          <a:srcRect l="-60" t="537"/>
          <a:stretch/>
        </p:blipFill>
        <p:spPr>
          <a:xfrm rot="-5399997">
            <a:off x="-1828923" y="178117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2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body" idx="1"/>
          </p:nvPr>
        </p:nvSpPr>
        <p:spPr>
          <a:xfrm>
            <a:off x="713225" y="1475125"/>
            <a:ext cx="7717500" cy="31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>
            <a:alphaModFix amt="75000"/>
          </a:blip>
          <a:srcRect l="-60" t="536" b="73706"/>
          <a:stretch/>
        </p:blipFill>
        <p:spPr>
          <a:xfrm rot="5400003">
            <a:off x="-2495438" y="2110890"/>
            <a:ext cx="5461376" cy="87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 amt="75000"/>
          </a:blip>
          <a:srcRect l="-60" t="536" b="73706"/>
          <a:stretch/>
        </p:blipFill>
        <p:spPr>
          <a:xfrm rot="-5399997">
            <a:off x="6178013" y="2110891"/>
            <a:ext cx="5461376" cy="870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title"/>
          </p:nvPr>
        </p:nvSpPr>
        <p:spPr>
          <a:xfrm rot="-1114">
            <a:off x="726775" y="2183450"/>
            <a:ext cx="2778300" cy="82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subTitle" idx="1"/>
          </p:nvPr>
        </p:nvSpPr>
        <p:spPr>
          <a:xfrm rot="371">
            <a:off x="726775" y="2991552"/>
            <a:ext cx="2778300" cy="4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title" idx="2"/>
          </p:nvPr>
        </p:nvSpPr>
        <p:spPr>
          <a:xfrm>
            <a:off x="3189587" y="3304275"/>
            <a:ext cx="27783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subTitle" idx="3"/>
          </p:nvPr>
        </p:nvSpPr>
        <p:spPr>
          <a:xfrm>
            <a:off x="3189587" y="4114925"/>
            <a:ext cx="27783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title" idx="4"/>
          </p:nvPr>
        </p:nvSpPr>
        <p:spPr>
          <a:xfrm>
            <a:off x="5652399" y="2182150"/>
            <a:ext cx="27783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subTitle" idx="5"/>
          </p:nvPr>
        </p:nvSpPr>
        <p:spPr>
          <a:xfrm>
            <a:off x="5652399" y="2991875"/>
            <a:ext cx="2778300" cy="4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 amt="75000"/>
          </a:blip>
          <a:srcRect l="16597" t="23395"/>
          <a:stretch/>
        </p:blipFill>
        <p:spPr>
          <a:xfrm rot="-5400000">
            <a:off x="-1349762" y="941737"/>
            <a:ext cx="5684874" cy="323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 amt="75000"/>
          </a:blip>
          <a:srcRect l="23059" t="16269"/>
          <a:stretch/>
        </p:blipFill>
        <p:spPr>
          <a:xfrm rot="5400004">
            <a:off x="5600637" y="400113"/>
            <a:ext cx="4438774" cy="2990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>
            <a:spLocks noGrp="1"/>
          </p:cNvSpPr>
          <p:nvPr>
            <p:ph type="title" idx="6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9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title"/>
          </p:nvPr>
        </p:nvSpPr>
        <p:spPr>
          <a:xfrm>
            <a:off x="1600200" y="1345325"/>
            <a:ext cx="5943600" cy="3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1"/>
          </p:nvPr>
        </p:nvSpPr>
        <p:spPr>
          <a:xfrm>
            <a:off x="1600200" y="1576824"/>
            <a:ext cx="5943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title" idx="2"/>
          </p:nvPr>
        </p:nvSpPr>
        <p:spPr>
          <a:xfrm>
            <a:off x="1600200" y="2491787"/>
            <a:ext cx="5943600" cy="3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3"/>
          </p:nvPr>
        </p:nvSpPr>
        <p:spPr>
          <a:xfrm>
            <a:off x="1600200" y="2721226"/>
            <a:ext cx="5943600" cy="7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title" idx="4"/>
          </p:nvPr>
        </p:nvSpPr>
        <p:spPr>
          <a:xfrm>
            <a:off x="1593425" y="3636142"/>
            <a:ext cx="5943600" cy="3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subTitle" idx="5"/>
          </p:nvPr>
        </p:nvSpPr>
        <p:spPr>
          <a:xfrm>
            <a:off x="1593425" y="3867801"/>
            <a:ext cx="5943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 amt="75000"/>
          </a:blip>
          <a:srcRect l="-60" t="536" b="66797"/>
          <a:stretch/>
        </p:blipFill>
        <p:spPr>
          <a:xfrm rot="-5399997">
            <a:off x="5922077" y="1921653"/>
            <a:ext cx="5772273" cy="1166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 amt="75000"/>
          </a:blip>
          <a:srcRect l="-60" t="536" b="66797"/>
          <a:stretch/>
        </p:blipFill>
        <p:spPr>
          <a:xfrm rot="5400003">
            <a:off x="-2553948" y="1988316"/>
            <a:ext cx="5772273" cy="1166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>
            <a:spLocks noGrp="1"/>
          </p:cNvSpPr>
          <p:nvPr>
            <p:ph type="title" idx="6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_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1"/>
          </p:nvPr>
        </p:nvSpPr>
        <p:spPr>
          <a:xfrm>
            <a:off x="2109048" y="1553404"/>
            <a:ext cx="2315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2"/>
          </p:nvPr>
        </p:nvSpPr>
        <p:spPr>
          <a:xfrm>
            <a:off x="2109047" y="1915655"/>
            <a:ext cx="23154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3"/>
          </p:nvPr>
        </p:nvSpPr>
        <p:spPr>
          <a:xfrm>
            <a:off x="4708749" y="1553404"/>
            <a:ext cx="2326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4"/>
          </p:nvPr>
        </p:nvSpPr>
        <p:spPr>
          <a:xfrm>
            <a:off x="4708753" y="1915655"/>
            <a:ext cx="23262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5"/>
          </p:nvPr>
        </p:nvSpPr>
        <p:spPr>
          <a:xfrm>
            <a:off x="2109048" y="3102807"/>
            <a:ext cx="2313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6"/>
          </p:nvPr>
        </p:nvSpPr>
        <p:spPr>
          <a:xfrm>
            <a:off x="2109047" y="3462836"/>
            <a:ext cx="23133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20"/>
          <p:cNvSpPr txBox="1">
            <a:spLocks noGrp="1"/>
          </p:cNvSpPr>
          <p:nvPr>
            <p:ph type="subTitle" idx="7"/>
          </p:nvPr>
        </p:nvSpPr>
        <p:spPr>
          <a:xfrm>
            <a:off x="4708750" y="3102806"/>
            <a:ext cx="2326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198" name="Google Shape;198;p20"/>
          <p:cNvSpPr txBox="1">
            <a:spLocks noGrp="1"/>
          </p:cNvSpPr>
          <p:nvPr>
            <p:ph type="subTitle" idx="8"/>
          </p:nvPr>
        </p:nvSpPr>
        <p:spPr>
          <a:xfrm>
            <a:off x="4708753" y="3462836"/>
            <a:ext cx="23262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0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 amt="75000"/>
          </a:blip>
          <a:srcRect l="23664" t="13300"/>
          <a:stretch/>
        </p:blipFill>
        <p:spPr>
          <a:xfrm>
            <a:off x="-142875" y="-3086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3">
            <a:alphaModFix amt="75000"/>
          </a:blip>
          <a:srcRect l="21334" t="3883"/>
          <a:stretch/>
        </p:blipFill>
        <p:spPr>
          <a:xfrm rot="-10799995">
            <a:off x="5587300" y="24513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1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title"/>
          </p:nvPr>
        </p:nvSpPr>
        <p:spPr>
          <a:xfrm>
            <a:off x="720000" y="1748246"/>
            <a:ext cx="2423100" cy="42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1"/>
          </p:nvPr>
        </p:nvSpPr>
        <p:spPr>
          <a:xfrm>
            <a:off x="720204" y="2019748"/>
            <a:ext cx="242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title" idx="2"/>
          </p:nvPr>
        </p:nvSpPr>
        <p:spPr>
          <a:xfrm>
            <a:off x="3368276" y="1748246"/>
            <a:ext cx="2423100" cy="42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3"/>
          </p:nvPr>
        </p:nvSpPr>
        <p:spPr>
          <a:xfrm>
            <a:off x="3368275" y="2019748"/>
            <a:ext cx="242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title" idx="4"/>
          </p:nvPr>
        </p:nvSpPr>
        <p:spPr>
          <a:xfrm>
            <a:off x="720204" y="3237376"/>
            <a:ext cx="2423100" cy="42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5"/>
          </p:nvPr>
        </p:nvSpPr>
        <p:spPr>
          <a:xfrm>
            <a:off x="720204" y="3509446"/>
            <a:ext cx="242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title" idx="6"/>
          </p:nvPr>
        </p:nvSpPr>
        <p:spPr>
          <a:xfrm>
            <a:off x="3368276" y="3237376"/>
            <a:ext cx="2423100" cy="42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7"/>
          </p:nvPr>
        </p:nvSpPr>
        <p:spPr>
          <a:xfrm>
            <a:off x="3368275" y="3509446"/>
            <a:ext cx="242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title" idx="8"/>
          </p:nvPr>
        </p:nvSpPr>
        <p:spPr>
          <a:xfrm>
            <a:off x="6000876" y="1748246"/>
            <a:ext cx="2423100" cy="42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subTitle" idx="9"/>
          </p:nvPr>
        </p:nvSpPr>
        <p:spPr>
          <a:xfrm>
            <a:off x="6000875" y="2019748"/>
            <a:ext cx="242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title" idx="13"/>
          </p:nvPr>
        </p:nvSpPr>
        <p:spPr>
          <a:xfrm>
            <a:off x="6000876" y="3237376"/>
            <a:ext cx="2423100" cy="42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8" name="Google Shape;218;p21"/>
          <p:cNvSpPr txBox="1">
            <a:spLocks noGrp="1"/>
          </p:cNvSpPr>
          <p:nvPr>
            <p:ph type="subTitle" idx="14"/>
          </p:nvPr>
        </p:nvSpPr>
        <p:spPr>
          <a:xfrm>
            <a:off x="6000875" y="3509446"/>
            <a:ext cx="242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1"/>
          <p:cNvSpPr txBox="1">
            <a:spLocks noGrp="1"/>
          </p:cNvSpPr>
          <p:nvPr>
            <p:ph type="title" idx="15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20" name="Google Shape;220;p21"/>
          <p:cNvPicPr preferRelativeResize="0"/>
          <p:nvPr/>
        </p:nvPicPr>
        <p:blipFill rotWithShape="1">
          <a:blip r:embed="rId3">
            <a:alphaModFix amt="75000"/>
          </a:blip>
          <a:srcRect l="23148" t="15754"/>
          <a:stretch/>
        </p:blipFill>
        <p:spPr>
          <a:xfrm rot="5400000">
            <a:off x="5748539" y="489536"/>
            <a:ext cx="4351724" cy="29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 rotWithShape="1">
          <a:blip r:embed="rId3">
            <a:alphaModFix amt="75000"/>
          </a:blip>
          <a:srcRect l="19672" t="17471"/>
          <a:stretch/>
        </p:blipFill>
        <p:spPr>
          <a:xfrm rot="-5399996">
            <a:off x="-957325" y="1514479"/>
            <a:ext cx="4633974" cy="2947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9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title"/>
          </p:nvPr>
        </p:nvSpPr>
        <p:spPr>
          <a:xfrm>
            <a:off x="867750" y="3269200"/>
            <a:ext cx="1841400" cy="3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subTitle" idx="1"/>
          </p:nvPr>
        </p:nvSpPr>
        <p:spPr>
          <a:xfrm>
            <a:off x="867750" y="3500976"/>
            <a:ext cx="1841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title" idx="2"/>
          </p:nvPr>
        </p:nvSpPr>
        <p:spPr>
          <a:xfrm>
            <a:off x="3651596" y="3269200"/>
            <a:ext cx="1841400" cy="3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0" name="Google Shape;230;p22"/>
          <p:cNvSpPr txBox="1">
            <a:spLocks noGrp="1"/>
          </p:cNvSpPr>
          <p:nvPr>
            <p:ph type="subTitle" idx="3"/>
          </p:nvPr>
        </p:nvSpPr>
        <p:spPr>
          <a:xfrm>
            <a:off x="3651596" y="3500976"/>
            <a:ext cx="1841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title" idx="4"/>
          </p:nvPr>
        </p:nvSpPr>
        <p:spPr>
          <a:xfrm>
            <a:off x="6434843" y="3269200"/>
            <a:ext cx="1841400" cy="3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subTitle" idx="5"/>
          </p:nvPr>
        </p:nvSpPr>
        <p:spPr>
          <a:xfrm>
            <a:off x="6434843" y="3500976"/>
            <a:ext cx="1841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2"/>
          <p:cNvSpPr txBox="1">
            <a:spLocks noGrp="1"/>
          </p:cNvSpPr>
          <p:nvPr>
            <p:ph type="title" idx="6" hasCustomPrompt="1"/>
          </p:nvPr>
        </p:nvSpPr>
        <p:spPr>
          <a:xfrm>
            <a:off x="1316850" y="1989375"/>
            <a:ext cx="943200" cy="51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4" name="Google Shape;234;p22"/>
          <p:cNvSpPr txBox="1">
            <a:spLocks noGrp="1"/>
          </p:cNvSpPr>
          <p:nvPr>
            <p:ph type="title" idx="7" hasCustomPrompt="1"/>
          </p:nvPr>
        </p:nvSpPr>
        <p:spPr>
          <a:xfrm>
            <a:off x="4100400" y="1989375"/>
            <a:ext cx="943200" cy="51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2"/>
          <p:cNvSpPr txBox="1">
            <a:spLocks noGrp="1"/>
          </p:cNvSpPr>
          <p:nvPr>
            <p:ph type="title" idx="8" hasCustomPrompt="1"/>
          </p:nvPr>
        </p:nvSpPr>
        <p:spPr>
          <a:xfrm>
            <a:off x="6883943" y="1989375"/>
            <a:ext cx="943200" cy="51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2"/>
          <p:cNvSpPr txBox="1">
            <a:spLocks noGrp="1"/>
          </p:cNvSpPr>
          <p:nvPr>
            <p:ph type="title" idx="9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 amt="75000"/>
          </a:blip>
          <a:srcRect l="23313" t="17390"/>
          <a:stretch/>
        </p:blipFill>
        <p:spPr>
          <a:xfrm rot="5400000">
            <a:off x="5724725" y="522874"/>
            <a:ext cx="4342200" cy="28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 amt="75000"/>
          </a:blip>
          <a:srcRect l="21489" t="20408"/>
          <a:stretch/>
        </p:blipFill>
        <p:spPr>
          <a:xfrm rot="-5399996">
            <a:off x="-852549" y="1514479"/>
            <a:ext cx="4529198" cy="284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title"/>
          </p:nvPr>
        </p:nvSpPr>
        <p:spPr>
          <a:xfrm>
            <a:off x="721575" y="54077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 amt="75000"/>
          </a:blip>
          <a:srcRect l="26205"/>
          <a:stretch/>
        </p:blipFill>
        <p:spPr>
          <a:xfrm rot="-5400000">
            <a:off x="-785911" y="1937192"/>
            <a:ext cx="3611223" cy="30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 rotWithShape="1">
          <a:blip r:embed="rId3">
            <a:alphaModFix amt="75000"/>
          </a:blip>
          <a:srcRect l="26335" t="537"/>
          <a:stretch/>
        </p:blipFill>
        <p:spPr>
          <a:xfrm rot="5400005">
            <a:off x="6372987" y="109689"/>
            <a:ext cx="3429100" cy="2866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4"/>
          <p:cNvSpPr txBox="1">
            <a:spLocks noGrp="1"/>
          </p:cNvSpPr>
          <p:nvPr>
            <p:ph type="ctrTitle"/>
          </p:nvPr>
        </p:nvSpPr>
        <p:spPr>
          <a:xfrm>
            <a:off x="2243613" y="573100"/>
            <a:ext cx="4661700" cy="11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3" name="Google Shape;253;p24"/>
          <p:cNvSpPr txBox="1">
            <a:spLocks noGrp="1"/>
          </p:cNvSpPr>
          <p:nvPr>
            <p:ph type="subTitle" idx="1"/>
          </p:nvPr>
        </p:nvSpPr>
        <p:spPr>
          <a:xfrm>
            <a:off x="2243625" y="1723300"/>
            <a:ext cx="4661700" cy="11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2072100" y="4182850"/>
            <a:ext cx="49998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CREDITS: 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, and includes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 and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 rotWithShape="1">
          <a:blip r:embed="rId6">
            <a:alphaModFix amt="75000"/>
          </a:blip>
          <a:srcRect l="18321"/>
          <a:stretch/>
        </p:blipFill>
        <p:spPr>
          <a:xfrm rot="5400000">
            <a:off x="5077976" y="347474"/>
            <a:ext cx="5076823" cy="38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/>
          <p:cNvPicPr preferRelativeResize="0"/>
          <p:nvPr/>
        </p:nvPicPr>
        <p:blipFill rotWithShape="1">
          <a:blip r:embed="rId6">
            <a:alphaModFix amt="75000"/>
          </a:blip>
          <a:srcRect l="14259" t="537"/>
          <a:stretch/>
        </p:blipFill>
        <p:spPr>
          <a:xfrm rot="-5399997">
            <a:off x="-1076912" y="756716"/>
            <a:ext cx="5372099" cy="385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 amt="75000"/>
          </a:blip>
          <a:srcRect l="23664" t="13300"/>
          <a:stretch/>
        </p:blipFill>
        <p:spPr>
          <a:xfrm>
            <a:off x="9525" y="-1562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 amt="75000"/>
          </a:blip>
          <a:srcRect l="21334" t="3883"/>
          <a:stretch/>
        </p:blipFill>
        <p:spPr>
          <a:xfrm rot="-10799995">
            <a:off x="5739700" y="26037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t="1621" b="17754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 amt="75000"/>
          </a:blip>
          <a:srcRect l="20357"/>
          <a:stretch/>
        </p:blipFill>
        <p:spPr>
          <a:xfrm rot="5400000">
            <a:off x="4631025" y="510125"/>
            <a:ext cx="5524500" cy="4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 amt="75000"/>
          </a:blip>
          <a:srcRect l="16646" t="537"/>
          <a:stretch/>
        </p:blipFill>
        <p:spPr>
          <a:xfrm rot="-5399997">
            <a:off x="-1058539" y="294014"/>
            <a:ext cx="5654502" cy="417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37000">
              <a:schemeClr val="dk1"/>
            </a:gs>
            <a:gs pos="63000">
              <a:schemeClr val="dk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2475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udiowide"/>
              <a:buNone/>
              <a:defRPr sz="2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2475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000" dirty="0">
                <a:solidFill>
                  <a:srgbClr val="FFFFFF"/>
                </a:solidFill>
                <a:latin typeface="Audiowide"/>
              </a:rPr>
              <a:t>AI RESEARCH PAPER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6475" y="2784341"/>
            <a:ext cx="5892300" cy="473700"/>
          </a:xfrm>
        </p:spPr>
        <p:txBody>
          <a:bodyPr/>
          <a:lstStyle/>
          <a:p>
            <a:pPr algn="ctr"/>
            <a:r>
              <a:rPr sz="1800" dirty="0" err="1">
                <a:solidFill>
                  <a:srgbClr val="51AFDB"/>
                </a:solidFill>
                <a:latin typeface="Audiowide"/>
              </a:rPr>
              <a:t>ResearchForge</a:t>
            </a:r>
            <a:endParaRPr sz="1800" dirty="0">
              <a:solidFill>
                <a:srgbClr val="51AFDB"/>
              </a:solidFill>
              <a:latin typeface="Audiowid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695" y="3209376"/>
            <a:ext cx="5888736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0" dirty="0">
                <a:solidFill>
                  <a:srgbClr val="FFFFFF"/>
                </a:solidFill>
                <a:latin typeface="Karla"/>
              </a:rPr>
              <a:t>BIT4543 Artificial Intelligence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 dirty="0">
                <a:solidFill>
                  <a:srgbClr val="B8CEE4"/>
                </a:solidFill>
                <a:latin typeface="Karla"/>
              </a:rPr>
              <a:t>AI Topic: Document Intelligence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 dirty="0" err="1">
                <a:solidFill>
                  <a:srgbClr val="51AFDB"/>
                </a:solidFill>
                <a:latin typeface="Karla"/>
              </a:rPr>
              <a:t>researchforge.rukon.dev</a:t>
            </a:r>
            <a:endParaRPr sz="1050" b="0" dirty="0">
              <a:solidFill>
                <a:srgbClr val="51AFDB"/>
              </a:solidFill>
              <a:latin typeface="Karla"/>
            </a:endParaRPr>
          </a:p>
        </p:txBody>
      </p:sp>
      <p:grpSp>
        <p:nvGrpSpPr>
          <p:cNvPr id="5" name="Google Shape;284;p30">
            <a:extLst>
              <a:ext uri="{FF2B5EF4-FFF2-40B4-BE49-F238E27FC236}">
                <a16:creationId xmlns:a16="http://schemas.microsoft.com/office/drawing/2014/main" id="{22C46AB0-231E-B1B5-7D1E-E7CD216E6C7E}"/>
              </a:ext>
            </a:extLst>
          </p:cNvPr>
          <p:cNvGrpSpPr/>
          <p:nvPr/>
        </p:nvGrpSpPr>
        <p:grpSpPr>
          <a:xfrm>
            <a:off x="437256" y="459176"/>
            <a:ext cx="288601" cy="1096693"/>
            <a:chOff x="1006700" y="2603975"/>
            <a:chExt cx="55450" cy="210700"/>
          </a:xfrm>
        </p:grpSpPr>
        <p:sp>
          <p:nvSpPr>
            <p:cNvPr id="6" name="Google Shape;285;p30">
              <a:extLst>
                <a:ext uri="{FF2B5EF4-FFF2-40B4-BE49-F238E27FC236}">
                  <a16:creationId xmlns:a16="http://schemas.microsoft.com/office/drawing/2014/main" id="{4ED5E336-E42F-ACA6-DFFD-05E1AA27EC6C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86;p30">
              <a:extLst>
                <a:ext uri="{FF2B5EF4-FFF2-40B4-BE49-F238E27FC236}">
                  <a16:creationId xmlns:a16="http://schemas.microsoft.com/office/drawing/2014/main" id="{55F3457E-ECDF-0870-8376-26A4BB88BE25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87;p30">
              <a:extLst>
                <a:ext uri="{FF2B5EF4-FFF2-40B4-BE49-F238E27FC236}">
                  <a16:creationId xmlns:a16="http://schemas.microsoft.com/office/drawing/2014/main" id="{26BA409B-E5CD-C641-E303-D0D8A388400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88;p30">
              <a:extLst>
                <a:ext uri="{FF2B5EF4-FFF2-40B4-BE49-F238E27FC236}">
                  <a16:creationId xmlns:a16="http://schemas.microsoft.com/office/drawing/2014/main" id="{85BE4273-0E52-02FB-999C-7DD66EA2CCE7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9;p30">
              <a:extLst>
                <a:ext uri="{FF2B5EF4-FFF2-40B4-BE49-F238E27FC236}">
                  <a16:creationId xmlns:a16="http://schemas.microsoft.com/office/drawing/2014/main" id="{0ACB5C7C-6423-523C-C20C-FF6BF80472D0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90;p30">
              <a:extLst>
                <a:ext uri="{FF2B5EF4-FFF2-40B4-BE49-F238E27FC236}">
                  <a16:creationId xmlns:a16="http://schemas.microsoft.com/office/drawing/2014/main" id="{3D9A7A85-7AE4-5E2C-6E2F-392AFD7F4E28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291;p30">
            <a:extLst>
              <a:ext uri="{FF2B5EF4-FFF2-40B4-BE49-F238E27FC236}">
                <a16:creationId xmlns:a16="http://schemas.microsoft.com/office/drawing/2014/main" id="{B8475A1F-C2BC-708D-F5F0-5C0D52A9A742}"/>
              </a:ext>
            </a:extLst>
          </p:cNvPr>
          <p:cNvGrpSpPr/>
          <p:nvPr/>
        </p:nvGrpSpPr>
        <p:grpSpPr>
          <a:xfrm rot="5400000">
            <a:off x="7604860" y="3970271"/>
            <a:ext cx="288601" cy="1096693"/>
            <a:chOff x="1006700" y="2603975"/>
            <a:chExt cx="55450" cy="210700"/>
          </a:xfrm>
        </p:grpSpPr>
        <p:sp>
          <p:nvSpPr>
            <p:cNvPr id="13" name="Google Shape;292;p30">
              <a:extLst>
                <a:ext uri="{FF2B5EF4-FFF2-40B4-BE49-F238E27FC236}">
                  <a16:creationId xmlns:a16="http://schemas.microsoft.com/office/drawing/2014/main" id="{2C40A634-A62C-4878-26CC-561D69DE7C5C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3;p30">
              <a:extLst>
                <a:ext uri="{FF2B5EF4-FFF2-40B4-BE49-F238E27FC236}">
                  <a16:creationId xmlns:a16="http://schemas.microsoft.com/office/drawing/2014/main" id="{89A5D47D-0FAB-D604-14F7-182BA853CCF4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4;p30">
              <a:extLst>
                <a:ext uri="{FF2B5EF4-FFF2-40B4-BE49-F238E27FC236}">
                  <a16:creationId xmlns:a16="http://schemas.microsoft.com/office/drawing/2014/main" id="{4909986F-D3B7-62D4-B0C6-33AE89561E1C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5;p30">
              <a:extLst>
                <a:ext uri="{FF2B5EF4-FFF2-40B4-BE49-F238E27FC236}">
                  <a16:creationId xmlns:a16="http://schemas.microsoft.com/office/drawing/2014/main" id="{DB92AB1C-FE75-7523-ADDE-AED2A01FC651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6;p30">
              <a:extLst>
                <a:ext uri="{FF2B5EF4-FFF2-40B4-BE49-F238E27FC236}">
                  <a16:creationId xmlns:a16="http://schemas.microsoft.com/office/drawing/2014/main" id="{DBEB1BBE-B984-6562-494F-73AB8A0ED2C4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97;p30">
              <a:extLst>
                <a:ext uri="{FF2B5EF4-FFF2-40B4-BE49-F238E27FC236}">
                  <a16:creationId xmlns:a16="http://schemas.microsoft.com/office/drawing/2014/main" id="{6935C211-D6BD-B391-BB60-E5E0291CFE1D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298;p30">
            <a:extLst>
              <a:ext uri="{FF2B5EF4-FFF2-40B4-BE49-F238E27FC236}">
                <a16:creationId xmlns:a16="http://schemas.microsoft.com/office/drawing/2014/main" id="{DD75D3B2-0CD2-5682-CFE7-78F8CAB0314E}"/>
              </a:ext>
            </a:extLst>
          </p:cNvPr>
          <p:cNvGrpSpPr/>
          <p:nvPr/>
        </p:nvGrpSpPr>
        <p:grpSpPr>
          <a:xfrm>
            <a:off x="85200" y="3753407"/>
            <a:ext cx="1178637" cy="1096691"/>
            <a:chOff x="827350" y="3629733"/>
            <a:chExt cx="1431600" cy="1332067"/>
          </a:xfrm>
        </p:grpSpPr>
        <p:sp>
          <p:nvSpPr>
            <p:cNvPr id="20" name="Google Shape;299;p30">
              <a:extLst>
                <a:ext uri="{FF2B5EF4-FFF2-40B4-BE49-F238E27FC236}">
                  <a16:creationId xmlns:a16="http://schemas.microsoft.com/office/drawing/2014/main" id="{39518A03-E9D1-18D9-6D72-115DF34D776B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0;p30">
              <a:extLst>
                <a:ext uri="{FF2B5EF4-FFF2-40B4-BE49-F238E27FC236}">
                  <a16:creationId xmlns:a16="http://schemas.microsoft.com/office/drawing/2014/main" id="{EA1D5A3E-F562-3A81-A9F6-BC131D2B68B0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01;p30">
              <a:extLst>
                <a:ext uri="{FF2B5EF4-FFF2-40B4-BE49-F238E27FC236}">
                  <a16:creationId xmlns:a16="http://schemas.microsoft.com/office/drawing/2014/main" id="{19C7D296-ECFA-D296-5D60-45C377545E3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310;p30">
            <a:extLst>
              <a:ext uri="{FF2B5EF4-FFF2-40B4-BE49-F238E27FC236}">
                <a16:creationId xmlns:a16="http://schemas.microsoft.com/office/drawing/2014/main" id="{D4A88DCF-FD08-E802-60A8-BBE448B6EBA0}"/>
              </a:ext>
            </a:extLst>
          </p:cNvPr>
          <p:cNvGrpSpPr/>
          <p:nvPr/>
        </p:nvGrpSpPr>
        <p:grpSpPr>
          <a:xfrm>
            <a:off x="7301554" y="283213"/>
            <a:ext cx="895180" cy="832942"/>
            <a:chOff x="827350" y="3629733"/>
            <a:chExt cx="1431600" cy="1332067"/>
          </a:xfrm>
        </p:grpSpPr>
        <p:sp>
          <p:nvSpPr>
            <p:cNvPr id="24" name="Google Shape;311;p30">
              <a:extLst>
                <a:ext uri="{FF2B5EF4-FFF2-40B4-BE49-F238E27FC236}">
                  <a16:creationId xmlns:a16="http://schemas.microsoft.com/office/drawing/2014/main" id="{2FEA05B2-6B30-B889-DBB9-66D384B61CA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312;p30">
              <a:extLst>
                <a:ext uri="{FF2B5EF4-FFF2-40B4-BE49-F238E27FC236}">
                  <a16:creationId xmlns:a16="http://schemas.microsoft.com/office/drawing/2014/main" id="{144B7DD5-DD31-A88B-275C-DA87CA20049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3;p30">
              <a:extLst>
                <a:ext uri="{FF2B5EF4-FFF2-40B4-BE49-F238E27FC236}">
                  <a16:creationId xmlns:a16="http://schemas.microsoft.com/office/drawing/2014/main" id="{2D948A6C-4224-9440-7AA1-31B9BD49B81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318;p30">
            <a:extLst>
              <a:ext uri="{FF2B5EF4-FFF2-40B4-BE49-F238E27FC236}">
                <a16:creationId xmlns:a16="http://schemas.microsoft.com/office/drawing/2014/main" id="{0E32334D-95C7-265F-C0C5-92EF3F9E530F}"/>
              </a:ext>
            </a:extLst>
          </p:cNvPr>
          <p:cNvGrpSpPr/>
          <p:nvPr/>
        </p:nvGrpSpPr>
        <p:grpSpPr>
          <a:xfrm>
            <a:off x="6736534" y="684169"/>
            <a:ext cx="464268" cy="431989"/>
            <a:chOff x="827350" y="3629733"/>
            <a:chExt cx="1431600" cy="1332067"/>
          </a:xfrm>
        </p:grpSpPr>
        <p:sp>
          <p:nvSpPr>
            <p:cNvPr id="28" name="Google Shape;319;p30">
              <a:extLst>
                <a:ext uri="{FF2B5EF4-FFF2-40B4-BE49-F238E27FC236}">
                  <a16:creationId xmlns:a16="http://schemas.microsoft.com/office/drawing/2014/main" id="{75D60773-413B-1392-42A6-43143B53745A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0;p30">
              <a:extLst>
                <a:ext uri="{FF2B5EF4-FFF2-40B4-BE49-F238E27FC236}">
                  <a16:creationId xmlns:a16="http://schemas.microsoft.com/office/drawing/2014/main" id="{07EF3094-AF24-8854-E6A8-6EEED2A36C26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1;p30">
              <a:extLst>
                <a:ext uri="{FF2B5EF4-FFF2-40B4-BE49-F238E27FC236}">
                  <a16:creationId xmlns:a16="http://schemas.microsoft.com/office/drawing/2014/main" id="{A54BBA9E-0531-C430-0E73-25521625B38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4;p30">
            <a:extLst>
              <a:ext uri="{FF2B5EF4-FFF2-40B4-BE49-F238E27FC236}">
                <a16:creationId xmlns:a16="http://schemas.microsoft.com/office/drawing/2014/main" id="{F79ADF3B-B5C5-7951-6212-452DA5BD3034}"/>
              </a:ext>
            </a:extLst>
          </p:cNvPr>
          <p:cNvGrpSpPr/>
          <p:nvPr/>
        </p:nvGrpSpPr>
        <p:grpSpPr>
          <a:xfrm>
            <a:off x="7966586" y="1129215"/>
            <a:ext cx="598982" cy="557337"/>
            <a:chOff x="827350" y="3629733"/>
            <a:chExt cx="1431600" cy="1332067"/>
          </a:xfrm>
        </p:grpSpPr>
        <p:sp>
          <p:nvSpPr>
            <p:cNvPr id="32" name="Google Shape;315;p30">
              <a:extLst>
                <a:ext uri="{FF2B5EF4-FFF2-40B4-BE49-F238E27FC236}">
                  <a16:creationId xmlns:a16="http://schemas.microsoft.com/office/drawing/2014/main" id="{12A073F0-78AB-19BB-82AC-F5305C5E38E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6;p30">
              <a:extLst>
                <a:ext uri="{FF2B5EF4-FFF2-40B4-BE49-F238E27FC236}">
                  <a16:creationId xmlns:a16="http://schemas.microsoft.com/office/drawing/2014/main" id="{F9276F1D-2C7F-C406-65A0-BED4946BBDA2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7;p30">
              <a:extLst>
                <a:ext uri="{FF2B5EF4-FFF2-40B4-BE49-F238E27FC236}">
                  <a16:creationId xmlns:a16="http://schemas.microsoft.com/office/drawing/2014/main" id="{1353C31F-EFDD-9F28-702B-F82BCD2494FC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02;p30">
            <a:extLst>
              <a:ext uri="{FF2B5EF4-FFF2-40B4-BE49-F238E27FC236}">
                <a16:creationId xmlns:a16="http://schemas.microsoft.com/office/drawing/2014/main" id="{CDD81911-3EA6-4FDE-E562-6C90238BE578}"/>
              </a:ext>
            </a:extLst>
          </p:cNvPr>
          <p:cNvGrpSpPr/>
          <p:nvPr/>
        </p:nvGrpSpPr>
        <p:grpSpPr>
          <a:xfrm>
            <a:off x="15265" y="2905406"/>
            <a:ext cx="781224" cy="726909"/>
            <a:chOff x="827350" y="3629733"/>
            <a:chExt cx="1431600" cy="1332067"/>
          </a:xfrm>
        </p:grpSpPr>
        <p:sp>
          <p:nvSpPr>
            <p:cNvPr id="36" name="Google Shape;303;p30">
              <a:extLst>
                <a:ext uri="{FF2B5EF4-FFF2-40B4-BE49-F238E27FC236}">
                  <a16:creationId xmlns:a16="http://schemas.microsoft.com/office/drawing/2014/main" id="{6C5C3EB5-2C21-D4FD-E1FD-866781FD7FE2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04;p30">
              <a:extLst>
                <a:ext uri="{FF2B5EF4-FFF2-40B4-BE49-F238E27FC236}">
                  <a16:creationId xmlns:a16="http://schemas.microsoft.com/office/drawing/2014/main" id="{128A4D56-0988-EA6B-2CA8-315352B58869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05;p30">
              <a:extLst>
                <a:ext uri="{FF2B5EF4-FFF2-40B4-BE49-F238E27FC236}">
                  <a16:creationId xmlns:a16="http://schemas.microsoft.com/office/drawing/2014/main" id="{377E59AF-0A4E-0023-0967-5BB2F8E2772A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6089B527-D038-E851-B31E-78FD2E9D1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709" y="798134"/>
            <a:ext cx="1694707" cy="132234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3A0267F-7D10-B1DE-564C-776754145037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Background and motivation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1549908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453896"/>
            <a:ext cx="4489704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Karla"/>
              </a:rPr>
              <a:t>Researchers work with large volumes of academic literature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970532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74520"/>
            <a:ext cx="4489704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Karla"/>
              </a:rPr>
              <a:t>Reading and understanding papers manually is slow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39115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295144"/>
            <a:ext cx="4489704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Karla"/>
              </a:rPr>
              <a:t>Key findings are hard to extract quickly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81178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4489704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Karla"/>
              </a:rPr>
              <a:t>Research gaps are difficult to identify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23240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136392"/>
            <a:ext cx="4489704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Karla"/>
              </a:rPr>
              <a:t>Literature reviews require comparison across sources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653028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557016"/>
            <a:ext cx="4489704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Karla"/>
              </a:rPr>
              <a:t>AI can assist with document understanding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481328"/>
            <a:ext cx="2715768" cy="2066543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0448" y="1645920"/>
            <a:ext cx="240487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51AFDB"/>
                </a:solidFill>
                <a:latin typeface="Audiowide"/>
              </a:rPr>
              <a:t>THE FIRST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066543"/>
            <a:ext cx="2404872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For every paper a researcher must decide: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What does it claim?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What does it leave open?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How does it relate to the rest?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60520"/>
            <a:ext cx="771753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B8CEE4"/>
                </a:solidFill>
                <a:latin typeface="Karla"/>
              </a:rPr>
              <a:t>ResearchForge assists this first pass, so effort is spent on the papers that matter.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EB50331-1C95-CB00-524E-79955E3D1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11BD38EB-16A6-AC7B-5A1A-0450701A7168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Problem statement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2450592" cy="115214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Audiowide"/>
              </a:rPr>
              <a:t>Slow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11095"/>
            <a:ext cx="219456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Reading and assessing each paper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takes significant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6704" y="1481328"/>
            <a:ext cx="2450592" cy="115214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60020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Audiowide"/>
              </a:rPr>
              <a:t>Hard to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11095"/>
            <a:ext cx="219456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Key findings are buried in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long, dense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0176" y="1481328"/>
            <a:ext cx="2450592" cy="115214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8192" y="160020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Audiowide"/>
              </a:rPr>
              <a:t>Gaps are hidden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911095"/>
            <a:ext cx="219456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Identifying what a paper leaves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open requires close reading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98064"/>
            <a:ext cx="2450592" cy="115214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916936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Audiowide"/>
              </a:rPr>
              <a:t>Review 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227832"/>
            <a:ext cx="219456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Literature reviews need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comparison across 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2798064"/>
            <a:ext cx="2450592" cy="115214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2916936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Audiowide"/>
              </a:rPr>
              <a:t>Duplicate AI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27832"/>
            <a:ext cx="219456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Re-analysing the same paper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repeats API calls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0176" y="2798064"/>
            <a:ext cx="2450592" cy="115214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08192" y="2916936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Audiowide"/>
              </a:rPr>
              <a:t>No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3227832"/>
            <a:ext cx="219456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Researchers lack a structured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assistance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224528"/>
            <a:ext cx="771753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B8CEE4"/>
                </a:solidFill>
                <a:latin typeface="Karla"/>
              </a:rPr>
              <a:t>A general chatbot will answer about a paper it has not read - an unreliable summary is worse than none.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D884E29-C0DA-78F4-6228-C53BCB0E4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3605C61-9188-8F92-21F0-5B7AEED37CC9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284;p30">
            <a:extLst>
              <a:ext uri="{FF2B5EF4-FFF2-40B4-BE49-F238E27FC236}">
                <a16:creationId xmlns:a16="http://schemas.microsoft.com/office/drawing/2014/main" id="{3BBD12F8-66FE-5506-9E7F-C9C35E4BDBBA}"/>
              </a:ext>
            </a:extLst>
          </p:cNvPr>
          <p:cNvGrpSpPr/>
          <p:nvPr/>
        </p:nvGrpSpPr>
        <p:grpSpPr>
          <a:xfrm>
            <a:off x="171211" y="249787"/>
            <a:ext cx="288601" cy="1096693"/>
            <a:chOff x="1006700" y="2603975"/>
            <a:chExt cx="55450" cy="210700"/>
          </a:xfrm>
        </p:grpSpPr>
        <p:sp>
          <p:nvSpPr>
            <p:cNvPr id="36" name="Google Shape;285;p30">
              <a:extLst>
                <a:ext uri="{FF2B5EF4-FFF2-40B4-BE49-F238E27FC236}">
                  <a16:creationId xmlns:a16="http://schemas.microsoft.com/office/drawing/2014/main" id="{E2135E67-3097-76E9-CF87-4306148F915A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86;p30">
              <a:extLst>
                <a:ext uri="{FF2B5EF4-FFF2-40B4-BE49-F238E27FC236}">
                  <a16:creationId xmlns:a16="http://schemas.microsoft.com/office/drawing/2014/main" id="{A33166F4-249C-8B2B-3BC4-3FC93F11746A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87;p30">
              <a:extLst>
                <a:ext uri="{FF2B5EF4-FFF2-40B4-BE49-F238E27FC236}">
                  <a16:creationId xmlns:a16="http://schemas.microsoft.com/office/drawing/2014/main" id="{4CB6C5FE-6CD9-ADDD-FFFC-E51276B60D73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88;p30">
              <a:extLst>
                <a:ext uri="{FF2B5EF4-FFF2-40B4-BE49-F238E27FC236}">
                  <a16:creationId xmlns:a16="http://schemas.microsoft.com/office/drawing/2014/main" id="{AE57FC56-6118-5E90-A4B7-1A52E984B144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89;p30">
              <a:extLst>
                <a:ext uri="{FF2B5EF4-FFF2-40B4-BE49-F238E27FC236}">
                  <a16:creationId xmlns:a16="http://schemas.microsoft.com/office/drawing/2014/main" id="{B1E36378-FB70-CDAF-572F-4C83B09E534F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90;p30">
              <a:extLst>
                <a:ext uri="{FF2B5EF4-FFF2-40B4-BE49-F238E27FC236}">
                  <a16:creationId xmlns:a16="http://schemas.microsoft.com/office/drawing/2014/main" id="{DC873F22-5E36-C284-A821-4A4404817B28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291;p30">
            <a:extLst>
              <a:ext uri="{FF2B5EF4-FFF2-40B4-BE49-F238E27FC236}">
                <a16:creationId xmlns:a16="http://schemas.microsoft.com/office/drawing/2014/main" id="{A8BBC211-CD75-3A51-2552-4EF5A8D03761}"/>
              </a:ext>
            </a:extLst>
          </p:cNvPr>
          <p:cNvGrpSpPr/>
          <p:nvPr/>
        </p:nvGrpSpPr>
        <p:grpSpPr>
          <a:xfrm rot="5400000">
            <a:off x="7604860" y="3970271"/>
            <a:ext cx="288601" cy="1096693"/>
            <a:chOff x="1006700" y="2603975"/>
            <a:chExt cx="55450" cy="210700"/>
          </a:xfrm>
        </p:grpSpPr>
        <p:sp>
          <p:nvSpPr>
            <p:cNvPr id="43" name="Google Shape;292;p30">
              <a:extLst>
                <a:ext uri="{FF2B5EF4-FFF2-40B4-BE49-F238E27FC236}">
                  <a16:creationId xmlns:a16="http://schemas.microsoft.com/office/drawing/2014/main" id="{4C61A571-81DB-45E5-2916-4DF2F3F8E4C8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93;p30">
              <a:extLst>
                <a:ext uri="{FF2B5EF4-FFF2-40B4-BE49-F238E27FC236}">
                  <a16:creationId xmlns:a16="http://schemas.microsoft.com/office/drawing/2014/main" id="{7F079F11-D61A-AAB4-97F2-F3E4DCBF1272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94;p30">
              <a:extLst>
                <a:ext uri="{FF2B5EF4-FFF2-40B4-BE49-F238E27FC236}">
                  <a16:creationId xmlns:a16="http://schemas.microsoft.com/office/drawing/2014/main" id="{A9822B84-4E22-265F-BE70-08AADE5137D2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95;p30">
              <a:extLst>
                <a:ext uri="{FF2B5EF4-FFF2-40B4-BE49-F238E27FC236}">
                  <a16:creationId xmlns:a16="http://schemas.microsoft.com/office/drawing/2014/main" id="{8DAEC2B2-B49D-C5AE-5C98-BD092FCF771B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96;p30">
              <a:extLst>
                <a:ext uri="{FF2B5EF4-FFF2-40B4-BE49-F238E27FC236}">
                  <a16:creationId xmlns:a16="http://schemas.microsoft.com/office/drawing/2014/main" id="{AD9572B9-B66A-074B-E15F-DBA0DA066E1A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97;p30">
              <a:extLst>
                <a:ext uri="{FF2B5EF4-FFF2-40B4-BE49-F238E27FC236}">
                  <a16:creationId xmlns:a16="http://schemas.microsoft.com/office/drawing/2014/main" id="{DC2A9D73-7120-E2B2-088B-651AD56E146E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298;p30">
            <a:extLst>
              <a:ext uri="{FF2B5EF4-FFF2-40B4-BE49-F238E27FC236}">
                <a16:creationId xmlns:a16="http://schemas.microsoft.com/office/drawing/2014/main" id="{DD3B46E9-CD48-2855-B1FE-0206AE33D6DF}"/>
              </a:ext>
            </a:extLst>
          </p:cNvPr>
          <p:cNvGrpSpPr/>
          <p:nvPr/>
        </p:nvGrpSpPr>
        <p:grpSpPr>
          <a:xfrm>
            <a:off x="85200" y="3753407"/>
            <a:ext cx="1178637" cy="1096691"/>
            <a:chOff x="827350" y="3629733"/>
            <a:chExt cx="1431600" cy="1332067"/>
          </a:xfrm>
        </p:grpSpPr>
        <p:sp>
          <p:nvSpPr>
            <p:cNvPr id="50" name="Google Shape;299;p30">
              <a:extLst>
                <a:ext uri="{FF2B5EF4-FFF2-40B4-BE49-F238E27FC236}">
                  <a16:creationId xmlns:a16="http://schemas.microsoft.com/office/drawing/2014/main" id="{7A72C5E8-28C9-23C3-83AA-1D76FACE9431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00;p30">
              <a:extLst>
                <a:ext uri="{FF2B5EF4-FFF2-40B4-BE49-F238E27FC236}">
                  <a16:creationId xmlns:a16="http://schemas.microsoft.com/office/drawing/2014/main" id="{43B0DA71-0E5A-CD24-F7B3-88EE9E224BEE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1;p30">
              <a:extLst>
                <a:ext uri="{FF2B5EF4-FFF2-40B4-BE49-F238E27FC236}">
                  <a16:creationId xmlns:a16="http://schemas.microsoft.com/office/drawing/2014/main" id="{97A0C9EB-2112-590C-771B-7C3DB253226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310;p30">
            <a:extLst>
              <a:ext uri="{FF2B5EF4-FFF2-40B4-BE49-F238E27FC236}">
                <a16:creationId xmlns:a16="http://schemas.microsoft.com/office/drawing/2014/main" id="{E3A8ABC2-86A2-0794-F124-9BF776EF73AB}"/>
              </a:ext>
            </a:extLst>
          </p:cNvPr>
          <p:cNvGrpSpPr/>
          <p:nvPr/>
        </p:nvGrpSpPr>
        <p:grpSpPr>
          <a:xfrm>
            <a:off x="7301554" y="283213"/>
            <a:ext cx="895180" cy="832942"/>
            <a:chOff x="827350" y="3629733"/>
            <a:chExt cx="1431600" cy="1332067"/>
          </a:xfrm>
        </p:grpSpPr>
        <p:sp>
          <p:nvSpPr>
            <p:cNvPr id="62" name="Google Shape;311;p30">
              <a:extLst>
                <a:ext uri="{FF2B5EF4-FFF2-40B4-BE49-F238E27FC236}">
                  <a16:creationId xmlns:a16="http://schemas.microsoft.com/office/drawing/2014/main" id="{B8FEF5DC-6AE5-ABA5-2F9E-E3ABA053F911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312;p30">
              <a:extLst>
                <a:ext uri="{FF2B5EF4-FFF2-40B4-BE49-F238E27FC236}">
                  <a16:creationId xmlns:a16="http://schemas.microsoft.com/office/drawing/2014/main" id="{FD5936B9-3188-7E09-A405-19330AFCED40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13;p30">
              <a:extLst>
                <a:ext uri="{FF2B5EF4-FFF2-40B4-BE49-F238E27FC236}">
                  <a16:creationId xmlns:a16="http://schemas.microsoft.com/office/drawing/2014/main" id="{0A92FF40-D33A-AD96-2C47-337D75013F69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Google Shape;318;p30">
            <a:extLst>
              <a:ext uri="{FF2B5EF4-FFF2-40B4-BE49-F238E27FC236}">
                <a16:creationId xmlns:a16="http://schemas.microsoft.com/office/drawing/2014/main" id="{84697FDA-E24F-E559-730E-F30686DF7862}"/>
              </a:ext>
            </a:extLst>
          </p:cNvPr>
          <p:cNvGrpSpPr/>
          <p:nvPr/>
        </p:nvGrpSpPr>
        <p:grpSpPr>
          <a:xfrm>
            <a:off x="6736534" y="684169"/>
            <a:ext cx="464268" cy="431989"/>
            <a:chOff x="827350" y="3629733"/>
            <a:chExt cx="1431600" cy="1332067"/>
          </a:xfrm>
        </p:grpSpPr>
        <p:sp>
          <p:nvSpPr>
            <p:cNvPr id="70" name="Google Shape;319;p30">
              <a:extLst>
                <a:ext uri="{FF2B5EF4-FFF2-40B4-BE49-F238E27FC236}">
                  <a16:creationId xmlns:a16="http://schemas.microsoft.com/office/drawing/2014/main" id="{DDA51B9F-C514-FC16-74C2-DDEA8DFD2FA4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20;p30">
              <a:extLst>
                <a:ext uri="{FF2B5EF4-FFF2-40B4-BE49-F238E27FC236}">
                  <a16:creationId xmlns:a16="http://schemas.microsoft.com/office/drawing/2014/main" id="{77CBB9A9-5107-D16F-EE55-46EBF9CA21D4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21;p30">
              <a:extLst>
                <a:ext uri="{FF2B5EF4-FFF2-40B4-BE49-F238E27FC236}">
                  <a16:creationId xmlns:a16="http://schemas.microsoft.com/office/drawing/2014/main" id="{BE4254AA-9366-F234-E9AC-96F462EBF3CD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314;p30">
            <a:extLst>
              <a:ext uri="{FF2B5EF4-FFF2-40B4-BE49-F238E27FC236}">
                <a16:creationId xmlns:a16="http://schemas.microsoft.com/office/drawing/2014/main" id="{D86ED056-CF6B-246F-8BBE-6FE6FF987CE2}"/>
              </a:ext>
            </a:extLst>
          </p:cNvPr>
          <p:cNvGrpSpPr/>
          <p:nvPr/>
        </p:nvGrpSpPr>
        <p:grpSpPr>
          <a:xfrm>
            <a:off x="7966586" y="1129215"/>
            <a:ext cx="598982" cy="557337"/>
            <a:chOff x="827350" y="3629733"/>
            <a:chExt cx="1431600" cy="1332067"/>
          </a:xfrm>
        </p:grpSpPr>
        <p:sp>
          <p:nvSpPr>
            <p:cNvPr id="66" name="Google Shape;315;p30">
              <a:extLst>
                <a:ext uri="{FF2B5EF4-FFF2-40B4-BE49-F238E27FC236}">
                  <a16:creationId xmlns:a16="http://schemas.microsoft.com/office/drawing/2014/main" id="{40EDB295-851E-38DB-916D-05EEEEBE3A2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16;p30">
              <a:extLst>
                <a:ext uri="{FF2B5EF4-FFF2-40B4-BE49-F238E27FC236}">
                  <a16:creationId xmlns:a16="http://schemas.microsoft.com/office/drawing/2014/main" id="{E558D2CE-5788-23B7-C8FE-08EA94A004AF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17;p30">
              <a:extLst>
                <a:ext uri="{FF2B5EF4-FFF2-40B4-BE49-F238E27FC236}">
                  <a16:creationId xmlns:a16="http://schemas.microsoft.com/office/drawing/2014/main" id="{BBEBDD58-3F61-352F-DA50-FCEC3B3333FB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302;p30">
            <a:extLst>
              <a:ext uri="{FF2B5EF4-FFF2-40B4-BE49-F238E27FC236}">
                <a16:creationId xmlns:a16="http://schemas.microsoft.com/office/drawing/2014/main" id="{15BA36AF-86B7-5CB4-7007-C21B0F48B767}"/>
              </a:ext>
            </a:extLst>
          </p:cNvPr>
          <p:cNvGrpSpPr/>
          <p:nvPr/>
        </p:nvGrpSpPr>
        <p:grpSpPr>
          <a:xfrm>
            <a:off x="15265" y="2905406"/>
            <a:ext cx="781224" cy="726909"/>
            <a:chOff x="827350" y="3629733"/>
            <a:chExt cx="1431600" cy="1332067"/>
          </a:xfrm>
        </p:grpSpPr>
        <p:sp>
          <p:nvSpPr>
            <p:cNvPr id="54" name="Google Shape;303;p30">
              <a:extLst>
                <a:ext uri="{FF2B5EF4-FFF2-40B4-BE49-F238E27FC236}">
                  <a16:creationId xmlns:a16="http://schemas.microsoft.com/office/drawing/2014/main" id="{C583B54C-C0F1-F49A-FA79-D3179ED50417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04;p30">
              <a:extLst>
                <a:ext uri="{FF2B5EF4-FFF2-40B4-BE49-F238E27FC236}">
                  <a16:creationId xmlns:a16="http://schemas.microsoft.com/office/drawing/2014/main" id="{95239BC7-0D12-71FF-2974-2784A32F8992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5;p30">
              <a:extLst>
                <a:ext uri="{FF2B5EF4-FFF2-40B4-BE49-F238E27FC236}">
                  <a16:creationId xmlns:a16="http://schemas.microsoft.com/office/drawing/2014/main" id="{AFF0915F-A16F-59B4-9845-4BDDC39567AD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Project objectives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nip Diagonal Corner Rectangle 3"/>
          <p:cNvSpPr/>
          <p:nvPr/>
        </p:nvSpPr>
        <p:spPr>
          <a:xfrm>
            <a:off x="713232" y="1517904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51AFDB"/>
                </a:solidFill>
                <a:latin typeface="Audiowid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6" y="1572768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Upload research papers</a:t>
            </a:r>
          </a:p>
        </p:txBody>
      </p:sp>
      <p:sp>
        <p:nvSpPr>
          <p:cNvPr id="7" name="Snip Diagonal Corner Rectangle 6"/>
          <p:cNvSpPr/>
          <p:nvPr/>
        </p:nvSpPr>
        <p:spPr>
          <a:xfrm>
            <a:off x="713232" y="2084831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39696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51AFDB"/>
                </a:solidFill>
                <a:latin typeface="Audiowid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139696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Extract text from PDF papers</a:t>
            </a:r>
          </a:p>
        </p:txBody>
      </p:sp>
      <p:sp>
        <p:nvSpPr>
          <p:cNvPr id="10" name="Snip Diagonal Corner Rectangle 9"/>
          <p:cNvSpPr/>
          <p:nvPr/>
        </p:nvSpPr>
        <p:spPr>
          <a:xfrm>
            <a:off x="713232" y="2651760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706624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 dirty="0">
                <a:solidFill>
                  <a:srgbClr val="51AFDB"/>
                </a:solidFill>
                <a:latin typeface="Audiowid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2706624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Generate summaries and key findings</a:t>
            </a:r>
          </a:p>
        </p:txBody>
      </p:sp>
      <p:sp>
        <p:nvSpPr>
          <p:cNvPr id="13" name="Snip Diagonal Corner Rectangle 12"/>
          <p:cNvSpPr/>
          <p:nvPr/>
        </p:nvSpPr>
        <p:spPr>
          <a:xfrm>
            <a:off x="713232" y="3218688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3273552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 dirty="0">
                <a:solidFill>
                  <a:srgbClr val="51AFDB"/>
                </a:solidFill>
                <a:latin typeface="Audiowid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273552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 dirty="0">
                <a:solidFill>
                  <a:srgbClr val="FFFFFF"/>
                </a:solidFill>
                <a:latin typeface="Karla"/>
              </a:rPr>
              <a:t>Identify research gaps</a:t>
            </a:r>
          </a:p>
        </p:txBody>
      </p:sp>
      <p:sp>
        <p:nvSpPr>
          <p:cNvPr id="16" name="Snip Diagonal Corner Rectangle 15"/>
          <p:cNvSpPr/>
          <p:nvPr/>
        </p:nvSpPr>
        <p:spPr>
          <a:xfrm>
            <a:off x="713232" y="3785615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840479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51AFDB"/>
                </a:solidFill>
                <a:latin typeface="Audiowide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840479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Generate literature review content</a:t>
            </a:r>
          </a:p>
        </p:txBody>
      </p:sp>
      <p:sp>
        <p:nvSpPr>
          <p:cNvPr id="19" name="Snip Diagonal Corner Rectangle 18"/>
          <p:cNvSpPr/>
          <p:nvPr/>
        </p:nvSpPr>
        <p:spPr>
          <a:xfrm>
            <a:off x="4663440" y="1517904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1572768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51AFDB"/>
                </a:solidFill>
                <a:latin typeface="Audiowide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572768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Support cross-paper literature review</a:t>
            </a:r>
          </a:p>
        </p:txBody>
      </p:sp>
      <p:sp>
        <p:nvSpPr>
          <p:cNvPr id="22" name="Snip Diagonal Corner Rectangle 21"/>
          <p:cNvSpPr/>
          <p:nvPr/>
        </p:nvSpPr>
        <p:spPr>
          <a:xfrm>
            <a:off x="4663440" y="2084831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2139696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51AFDB"/>
                </a:solidFill>
                <a:latin typeface="Audiowide"/>
              </a:rPr>
              <a:t>07</a:t>
            </a:r>
          </a:p>
        </p:txBody>
      </p:sp>
      <p:grpSp>
        <p:nvGrpSpPr>
          <p:cNvPr id="57" name="Google Shape;306;p30">
            <a:extLst>
              <a:ext uri="{FF2B5EF4-FFF2-40B4-BE49-F238E27FC236}">
                <a16:creationId xmlns:a16="http://schemas.microsoft.com/office/drawing/2014/main" id="{132A248E-24ED-B12F-81B6-9FA03717A243}"/>
              </a:ext>
            </a:extLst>
          </p:cNvPr>
          <p:cNvGrpSpPr/>
          <p:nvPr/>
        </p:nvGrpSpPr>
        <p:grpSpPr>
          <a:xfrm>
            <a:off x="1816189" y="4394848"/>
            <a:ext cx="356325" cy="331552"/>
            <a:chOff x="827350" y="3629733"/>
            <a:chExt cx="1431600" cy="1332067"/>
          </a:xfrm>
        </p:grpSpPr>
        <p:sp>
          <p:nvSpPr>
            <p:cNvPr id="58" name="Google Shape;307;p30">
              <a:extLst>
                <a:ext uri="{FF2B5EF4-FFF2-40B4-BE49-F238E27FC236}">
                  <a16:creationId xmlns:a16="http://schemas.microsoft.com/office/drawing/2014/main" id="{D3354C11-D887-3F52-D850-4A8B4DB6A1CA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08;p30">
              <a:extLst>
                <a:ext uri="{FF2B5EF4-FFF2-40B4-BE49-F238E27FC236}">
                  <a16:creationId xmlns:a16="http://schemas.microsoft.com/office/drawing/2014/main" id="{7E085385-174E-45AA-0D26-C6534689E151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09;p30">
              <a:extLst>
                <a:ext uri="{FF2B5EF4-FFF2-40B4-BE49-F238E27FC236}">
                  <a16:creationId xmlns:a16="http://schemas.microsoft.com/office/drawing/2014/main" id="{218569DD-EF88-FF4C-D5D0-42EC975C8260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175504" y="2139696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Provide a usable assistant interface</a:t>
            </a:r>
          </a:p>
        </p:txBody>
      </p:sp>
      <p:sp>
        <p:nvSpPr>
          <p:cNvPr id="25" name="Snip Diagonal Corner Rectangle 24"/>
          <p:cNvSpPr/>
          <p:nvPr/>
        </p:nvSpPr>
        <p:spPr>
          <a:xfrm>
            <a:off x="4663440" y="2651760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2706624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51AFDB"/>
                </a:solidFill>
                <a:latin typeface="Audiowide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706624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Secure accounts and private ownership</a:t>
            </a:r>
          </a:p>
        </p:txBody>
      </p:sp>
      <p:sp>
        <p:nvSpPr>
          <p:cNvPr id="28" name="Snip Diagonal Corner Rectangle 27"/>
          <p:cNvSpPr/>
          <p:nvPr/>
        </p:nvSpPr>
        <p:spPr>
          <a:xfrm>
            <a:off x="4663440" y="3218688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3273552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51AFDB"/>
                </a:solidFill>
                <a:latin typeface="Audiowide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5504" y="3273552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Reduce duplicate AI processing (cache)</a:t>
            </a:r>
          </a:p>
        </p:txBody>
      </p:sp>
      <p:sp>
        <p:nvSpPr>
          <p:cNvPr id="31" name="Snip Diagonal Corner Rectangle 30"/>
          <p:cNvSpPr/>
          <p:nvPr/>
        </p:nvSpPr>
        <p:spPr>
          <a:xfrm>
            <a:off x="4663440" y="3785615"/>
            <a:ext cx="384048" cy="384048"/>
          </a:xfrm>
          <a:prstGeom prst="snip2Diag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3840479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51AFDB"/>
                </a:solidFill>
                <a:latin typeface="Audiowide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3840479"/>
            <a:ext cx="3218688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Karla"/>
              </a:rPr>
              <a:t>Controlled AI routing and 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498848"/>
            <a:ext cx="771753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B8CEE4"/>
                </a:solidFill>
                <a:latin typeface="Karla"/>
              </a:rPr>
              <a:t>Objectives 8 to 10 are the engineering that makes the analysis trustworthy, private and affordable.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317FEB60-8D84-8ADC-5D85-FBFCFAD49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61A5E227-C1FD-F0B6-6222-E87BEC398A25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Proposed solution: ResearchForge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08176"/>
            <a:ext cx="1298448" cy="676656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Academic</a:t>
            </a:r>
          </a:p>
          <a:p>
            <a:pPr algn="ctr">
              <a:lnSpc>
                <a:spcPct val="92000"/>
              </a:lnSpc>
            </a:pPr>
            <a:r>
              <a:rPr sz="1000" b="0">
                <a:solidFill>
                  <a:srgbClr val="FFFFFF"/>
                </a:solidFill>
                <a:latin typeface="Karla"/>
              </a:rPr>
              <a:t>paper (PDF)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57400" y="1673352"/>
            <a:ext cx="201168" cy="146304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04288" y="1408176"/>
            <a:ext cx="1298448" cy="676656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Upload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48456" y="1673352"/>
            <a:ext cx="201168" cy="146304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95344" y="1408176"/>
            <a:ext cx="1298448" cy="676656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PDF text</a:t>
            </a:r>
          </a:p>
          <a:p>
            <a:pPr algn="ctr">
              <a:lnSpc>
                <a:spcPct val="92000"/>
              </a:lnSpc>
            </a:pPr>
            <a:r>
              <a:rPr sz="1000" b="0">
                <a:solidFill>
                  <a:srgbClr val="FFFFFF"/>
                </a:solidFill>
                <a:latin typeface="Karla"/>
              </a:rPr>
              <a:t>extraction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39512" y="1673352"/>
            <a:ext cx="201168" cy="146304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0" y="1408176"/>
            <a:ext cx="1298448" cy="676656"/>
          </a:xfrm>
          <a:prstGeom prst="roundRect">
            <a:avLst/>
          </a:prstGeom>
          <a:solidFill>
            <a:srgbClr val="3B8794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AI 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30568" y="1673352"/>
            <a:ext cx="201168" cy="146304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77456" y="1408176"/>
            <a:ext cx="1298448" cy="676656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Structured</a:t>
            </a:r>
          </a:p>
          <a:p>
            <a:pPr algn="ctr">
              <a:lnSpc>
                <a:spcPct val="92000"/>
              </a:lnSpc>
            </a:pPr>
            <a:r>
              <a:rPr sz="1000" b="0">
                <a:solidFill>
                  <a:srgbClr val="FFFFFF"/>
                </a:solidFill>
                <a:latin typeface="Karla"/>
              </a:rP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267712"/>
            <a:ext cx="1792224" cy="420624"/>
          </a:xfrm>
          <a:prstGeom prst="round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Summary and key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267712"/>
            <a:ext cx="1792224" cy="420624"/>
          </a:xfrm>
          <a:prstGeom prst="round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Research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2267712"/>
            <a:ext cx="1792224" cy="420624"/>
          </a:xfrm>
          <a:prstGeom prst="round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Literature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6" y="2267712"/>
            <a:ext cx="1792224" cy="420624"/>
          </a:xfrm>
          <a:prstGeom prst="round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Research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871216"/>
            <a:ext cx="3950208" cy="104241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1AFDB"/>
                </a:solidFill>
                <a:latin typeface="Karla"/>
              </a:rPr>
              <a:t>Cross-paper review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Several analysed papers from the user's own library can be reviewed together. The feature requires more than one paper.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68496"/>
            <a:ext cx="3950208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Every generated section is constrained to the uploaded document. Where the paper does not support a section, the system reports insufficient evidence.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0036" y="2766060"/>
            <a:ext cx="3602736" cy="1987154"/>
          </a:xfrm>
          <a:prstGeom prst="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03-dashboard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798064"/>
            <a:ext cx="3538728" cy="19231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3D1EED0-E6CD-2537-9BE8-2A5E1C333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B32229E-7973-B873-9501-A65EF4636621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Methodology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517904"/>
            <a:ext cx="975664" cy="74980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850" b="1">
                <a:solidFill>
                  <a:srgbClr val="FFFFFF"/>
                </a:solidFill>
                <a:latin typeface="Karla"/>
              </a:rPr>
              <a:t>Requirements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98040" y="1819656"/>
            <a:ext cx="128016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35200" y="1517904"/>
            <a:ext cx="975664" cy="74980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850" b="1">
                <a:solidFill>
                  <a:srgbClr val="FFFFFF"/>
                </a:solidFill>
                <a:latin typeface="Karla"/>
              </a:rPr>
              <a:t>System</a:t>
            </a:r>
          </a:p>
          <a:p>
            <a:pPr algn="ctr">
              <a:lnSpc>
                <a:spcPct val="92000"/>
              </a:lnSpc>
            </a:pPr>
            <a:r>
              <a:rPr sz="850" b="0">
                <a:solidFill>
                  <a:srgbClr val="FFFFFF"/>
                </a:solidFill>
                <a:latin typeface="Karla"/>
              </a:rPr>
              <a:t>design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20009" y="1819656"/>
            <a:ext cx="128016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57169" y="1517904"/>
            <a:ext cx="975664" cy="74980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850" b="1">
                <a:solidFill>
                  <a:srgbClr val="FFFFFF"/>
                </a:solidFill>
                <a:latin typeface="Karla"/>
              </a:rPr>
              <a:t>Implementation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41978" y="1819656"/>
            <a:ext cx="128016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079138" y="1517904"/>
            <a:ext cx="975664" cy="74980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850" b="1">
                <a:solidFill>
                  <a:srgbClr val="FFFFFF"/>
                </a:solidFill>
                <a:latin typeface="Karla"/>
              </a:rPr>
              <a:t>AI</a:t>
            </a:r>
          </a:p>
          <a:p>
            <a:pPr algn="ctr">
              <a:lnSpc>
                <a:spcPct val="92000"/>
              </a:lnSpc>
            </a:pPr>
            <a:r>
              <a:rPr sz="850" b="0">
                <a:solidFill>
                  <a:srgbClr val="FFFFFF"/>
                </a:solidFill>
                <a:latin typeface="Karla"/>
              </a:rPr>
              <a:t>integration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63947" y="1819656"/>
            <a:ext cx="128016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01107" y="1517904"/>
            <a:ext cx="975664" cy="74980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850" b="1">
                <a:solidFill>
                  <a:srgbClr val="FFFFFF"/>
                </a:solidFill>
                <a:latin typeface="Karla"/>
              </a:rPr>
              <a:t>Database and</a:t>
            </a:r>
          </a:p>
          <a:p>
            <a:pPr algn="ctr">
              <a:lnSpc>
                <a:spcPct val="92000"/>
              </a:lnSpc>
            </a:pPr>
            <a:r>
              <a:rPr sz="850" b="0">
                <a:solidFill>
                  <a:srgbClr val="FFFFFF"/>
                </a:solidFill>
                <a:latin typeface="Karla"/>
              </a:rPr>
              <a:t>authentication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85915" y="1819656"/>
            <a:ext cx="128016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23075" y="1517904"/>
            <a:ext cx="975664" cy="74980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850" b="1">
                <a:solidFill>
                  <a:srgbClr val="FFFFFF"/>
                </a:solidFill>
                <a:latin typeface="Karla"/>
              </a:rPr>
              <a:t>Testing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07884" y="1819656"/>
            <a:ext cx="128016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45044" y="1517904"/>
            <a:ext cx="975664" cy="74980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850" b="1">
                <a:solidFill>
                  <a:srgbClr val="FFFFFF"/>
                </a:solidFill>
                <a:latin typeface="Karla"/>
              </a:rPr>
              <a:t>Production</a:t>
            </a:r>
          </a:p>
          <a:p>
            <a:pPr algn="ctr">
              <a:lnSpc>
                <a:spcPct val="92000"/>
              </a:lnSpc>
            </a:pPr>
            <a:r>
              <a:rPr sz="850" b="0">
                <a:solidFill>
                  <a:srgbClr val="FFFFFF"/>
                </a:solidFill>
                <a:latin typeface="Karla"/>
              </a:rPr>
              <a:t>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542032"/>
            <a:ext cx="771753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51AFDB"/>
                </a:solidFill>
                <a:latin typeface="Audiowide"/>
              </a:rPr>
              <a:t>Incremental, milestone-based development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299466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2898648"/>
            <a:ext cx="74980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Thirteen milestones, each ending with a test and a review before the next began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3342132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246120"/>
            <a:ext cx="74980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Design decisions driven by measurement, not assumption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368960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593592"/>
            <a:ext cx="74980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Retrieval was not built after measuring that whole papers fit the model context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403707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3941063"/>
            <a:ext cx="74980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Isolation moved into the database after a defect showed application filtering had failed silently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4384548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288536"/>
            <a:ext cx="74980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Six additive-only migrations: no DROP, TRUNCATE or DELETE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5C6040A-A13F-AC40-4C77-9F9773A5F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2ACA060-3B5F-7730-0ABC-2133FD1A320D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System architecture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371600"/>
            <a:ext cx="1783080" cy="530352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50" b="1" dirty="0">
                <a:solidFill>
                  <a:srgbClr val="FFFFFF"/>
                </a:solidFill>
                <a:latin typeface="Karla"/>
              </a:rPr>
              <a:t>User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23744" y="1572768"/>
            <a:ext cx="164592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88336" y="1371600"/>
            <a:ext cx="1783080" cy="530352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50" b="1">
                <a:solidFill>
                  <a:srgbClr val="FFFFFF"/>
                </a:solidFill>
                <a:latin typeface="Karla"/>
              </a:rPr>
              <a:t>Web interface</a:t>
            </a:r>
          </a:p>
          <a:p>
            <a:pPr algn="ctr">
              <a:lnSpc>
                <a:spcPct val="92000"/>
              </a:lnSpc>
            </a:pPr>
            <a:r>
              <a:rPr sz="950" b="0">
                <a:solidFill>
                  <a:srgbClr val="FFFFFF"/>
                </a:solidFill>
                <a:latin typeface="Karla"/>
              </a:rPr>
              <a:t>(Next.js / React)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98848" y="1572768"/>
            <a:ext cx="164592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1783080" cy="530352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50" b="1">
                <a:solidFill>
                  <a:srgbClr val="FFFFFF"/>
                </a:solidFill>
                <a:latin typeface="Karla"/>
              </a:rPr>
              <a:t>FastAPI backend</a:t>
            </a:r>
          </a:p>
          <a:p>
            <a:pPr algn="ctr">
              <a:lnSpc>
                <a:spcPct val="92000"/>
              </a:lnSpc>
            </a:pPr>
            <a:r>
              <a:rPr sz="950" b="0">
                <a:solidFill>
                  <a:srgbClr val="FFFFFF"/>
                </a:solidFill>
                <a:latin typeface="Karla"/>
              </a:rPr>
              <a:t>authentication check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73952" y="1572768"/>
            <a:ext cx="164592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38544" y="1371600"/>
            <a:ext cx="1783080" cy="530352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50" b="1">
                <a:solidFill>
                  <a:srgbClr val="FFFFFF"/>
                </a:solidFill>
                <a:latin typeface="Karla"/>
              </a:rPr>
              <a:t>PDF extraction,</a:t>
            </a:r>
          </a:p>
          <a:p>
            <a:pPr algn="ctr">
              <a:lnSpc>
                <a:spcPct val="92000"/>
              </a:lnSpc>
            </a:pPr>
            <a:r>
              <a:rPr sz="950" b="0">
                <a:solidFill>
                  <a:srgbClr val="FFFFFF"/>
                </a:solidFill>
                <a:latin typeface="Karla"/>
              </a:rPr>
              <a:t>normalisation, SHA-256 hash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461504" y="1865376"/>
            <a:ext cx="128016" cy="109728"/>
          </a:xfrm>
          <a:prstGeom prst="down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89888" y="1956816"/>
            <a:ext cx="6199632" cy="18288"/>
          </a:xfrm>
          <a:prstGeom prst="rect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1389888" y="1975104"/>
            <a:ext cx="128016" cy="237744"/>
          </a:xfrm>
          <a:prstGeom prst="down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" y="2212848"/>
            <a:ext cx="1481328" cy="512064"/>
          </a:xfrm>
          <a:prstGeom prst="roundRect">
            <a:avLst/>
          </a:prstGeom>
          <a:solidFill>
            <a:srgbClr val="3B8794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50" b="1">
                <a:solidFill>
                  <a:srgbClr val="FFFFFF"/>
                </a:solidFill>
                <a:latin typeface="Karla"/>
              </a:rPr>
              <a:t>Analysis cache</a:t>
            </a:r>
          </a:p>
          <a:p>
            <a:pPr algn="ctr">
              <a:lnSpc>
                <a:spcPct val="92000"/>
              </a:lnSpc>
            </a:pPr>
            <a:r>
              <a:rPr sz="950" b="0">
                <a:solidFill>
                  <a:srgbClr val="FFFFFF"/>
                </a:solidFill>
                <a:latin typeface="Karla"/>
              </a:rPr>
              <a:t>lookup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49424" y="2404872"/>
            <a:ext cx="164592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68880" y="2212848"/>
            <a:ext cx="1389888" cy="51206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50" b="1">
                <a:solidFill>
                  <a:srgbClr val="FFFFFF"/>
                </a:solidFill>
                <a:latin typeface="Karla"/>
              </a:rPr>
              <a:t>AI provider</a:t>
            </a:r>
          </a:p>
          <a:p>
            <a:pPr algn="ctr">
              <a:lnSpc>
                <a:spcPct val="92000"/>
              </a:lnSpc>
            </a:pPr>
            <a:r>
              <a:rPr sz="950" b="0">
                <a:solidFill>
                  <a:srgbClr val="FFFFFF"/>
                </a:solidFill>
                <a:latin typeface="Karla"/>
              </a:rPr>
              <a:t>router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95344" y="2404872"/>
            <a:ext cx="164592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0" y="2011680"/>
            <a:ext cx="1828800" cy="438912"/>
          </a:xfrm>
          <a:prstGeom prst="round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00" b="1">
                <a:solidFill>
                  <a:srgbClr val="FFFFFF"/>
                </a:solidFill>
                <a:latin typeface="Karla"/>
              </a:rPr>
              <a:t>Primary: Groq</a:t>
            </a:r>
          </a:p>
          <a:p>
            <a:pPr algn="ctr">
              <a:lnSpc>
                <a:spcPct val="92000"/>
              </a:lnSpc>
            </a:pPr>
            <a:r>
              <a:rPr sz="900" b="0">
                <a:solidFill>
                  <a:srgbClr val="FFFFFF"/>
                </a:solidFill>
                <a:latin typeface="Karla"/>
              </a:rPr>
              <a:t>qwen/qwen3.6-27b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2523744"/>
            <a:ext cx="1828800" cy="438912"/>
          </a:xfrm>
          <a:prstGeom prst="roundRect">
            <a:avLst/>
          </a:prstGeom>
          <a:noFill/>
          <a:ln w="12700">
            <a:solidFill>
              <a:srgbClr val="3B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00" b="1">
                <a:solidFill>
                  <a:srgbClr val="FFFFFF"/>
                </a:solidFill>
                <a:latin typeface="Karla"/>
              </a:rPr>
              <a:t>Fallback: Anthropic</a:t>
            </a:r>
          </a:p>
          <a:p>
            <a:pPr algn="ctr">
              <a:lnSpc>
                <a:spcPct val="92000"/>
              </a:lnSpc>
            </a:pPr>
            <a:r>
              <a:rPr sz="900" b="0">
                <a:solidFill>
                  <a:srgbClr val="FFFFFF"/>
                </a:solidFill>
                <a:latin typeface="Karla"/>
              </a:rPr>
              <a:t>claude-opus-5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80176" y="2404872"/>
            <a:ext cx="164592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9632" y="2212848"/>
            <a:ext cx="1316736" cy="51206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50" b="1">
                <a:solidFill>
                  <a:srgbClr val="FFFFFF"/>
                </a:solidFill>
                <a:latin typeface="Karla"/>
              </a:rPr>
              <a:t>Schema</a:t>
            </a:r>
          </a:p>
          <a:p>
            <a:pPr algn="ctr">
              <a:lnSpc>
                <a:spcPct val="92000"/>
              </a:lnSpc>
            </a:pPr>
            <a:r>
              <a:rPr sz="950" b="0">
                <a:solidFill>
                  <a:srgbClr val="FFFFFF"/>
                </a:solidFill>
                <a:latin typeface="Karla"/>
              </a:rPr>
              <a:t>validation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793992" y="2761488"/>
            <a:ext cx="128016" cy="164592"/>
          </a:xfrm>
          <a:prstGeom prst="down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60720" y="2999232"/>
            <a:ext cx="2670048" cy="566928"/>
          </a:xfrm>
          <a:prstGeom prst="roundRect">
            <a:avLst/>
          </a:prstGeom>
          <a:solidFill>
            <a:srgbClr val="3B8794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950" b="1">
                <a:solidFill>
                  <a:srgbClr val="FFFFFF"/>
                </a:solidFill>
                <a:latin typeface="Karla"/>
              </a:rPr>
              <a:t>Supabase PostgreSQL - Row Level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602736"/>
            <a:ext cx="26700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B8CEE4"/>
                </a:solidFill>
                <a:latin typeface="Karla"/>
              </a:rPr>
              <a:t>Results filtered by the signed-in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017520"/>
            <a:ext cx="4846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A cache hit returns the stored analysis with no model call. A miss goes to the primary provider, with one fallback attempt permitted for an allowed retryable failure.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096512"/>
            <a:ext cx="7717536" cy="603504"/>
          </a:xfrm>
          <a:prstGeom prst="roundRect">
            <a:avLst/>
          </a:prstGeom>
          <a:noFill/>
          <a:ln w="9525">
            <a:solidFill>
              <a:srgbClr val="B8C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4169663"/>
            <a:ext cx="7461504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B8CEE4"/>
                </a:solidFill>
                <a:latin typeface="Karla"/>
              </a:rPr>
              <a:t>Prepared scaffolding, not production: </a:t>
            </a:r>
            <a:r>
              <a:rPr sz="950" b="0">
                <a:solidFill>
                  <a:srgbClr val="B8CEE4"/>
                </a:solidFill>
                <a:latin typeface="Karla"/>
              </a:rPr>
              <a:t>Jina embeddings, pgvector and the chunks table exist in the repository but are not called during analysis.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B8CEE4"/>
                </a:solidFill>
                <a:latin typeface="Karla"/>
              </a:rPr>
              <a:t>The pipeline is full-document grounded generation, not RAG.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EBB4B5-F61B-38AE-C896-A1A710AE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DAB7121-1F61-88B2-22C1-B95D8B86DCB2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AI model implementation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26464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51AFDB"/>
                </a:solidFill>
                <a:latin typeface="Audiowide"/>
              </a:rPr>
              <a:t>INFERENCE, NOT TRAINING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84251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46504"/>
            <a:ext cx="426110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Karla"/>
              </a:rPr>
              <a:t>Primary: </a:t>
            </a:r>
            <a:r>
              <a:rPr sz="1150" b="0">
                <a:solidFill>
                  <a:srgbClr val="FFFFFF"/>
                </a:solidFill>
                <a:latin typeface="Karla"/>
              </a:rPr>
              <a:t>Groq </a:t>
            </a:r>
            <a:r>
              <a:rPr sz="1150" b="0">
                <a:solidFill>
                  <a:srgbClr val="51AFDB"/>
                </a:solidFill>
                <a:latin typeface="Karla"/>
              </a:rPr>
              <a:t>qwen/qwen3.6-27b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20827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12264"/>
            <a:ext cx="426110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Karla"/>
              </a:rPr>
              <a:t>Fallback: </a:t>
            </a:r>
            <a:r>
              <a:rPr sz="1150" b="0">
                <a:solidFill>
                  <a:srgbClr val="FFFFFF"/>
                </a:solidFill>
                <a:latin typeface="Karla"/>
              </a:rPr>
              <a:t>Anthropic </a:t>
            </a:r>
            <a:r>
              <a:rPr sz="1150" b="0">
                <a:solidFill>
                  <a:srgbClr val="51AFDB"/>
                </a:solidFill>
                <a:latin typeface="Karla"/>
              </a:rPr>
              <a:t>claude-opus-5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57403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78024"/>
            <a:ext cx="426110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Three structured passes: summary, gaps, review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93979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843784"/>
            <a:ext cx="426110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Whole uploaded document supplied as grounding context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30555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209544"/>
            <a:ext cx="426110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Output validated against a declared schema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671315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575303"/>
            <a:ext cx="426110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Invalid output is discarded, never repaired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03707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941063"/>
            <a:ext cx="426110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Provenance recorded: provider, model, fallback,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389888"/>
            <a:ext cx="2990088" cy="184708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3B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0" y="1463040"/>
            <a:ext cx="27157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3B8794"/>
                </a:solidFill>
                <a:latin typeface="Audiowide"/>
              </a:rPr>
              <a:t>CONTROLLED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755648"/>
            <a:ext cx="2715768" cy="14264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The owner selects one global primary provider; the other enabled provider becomes the fallback.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Normal users cannot switch providers. There is no auto option.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Karla"/>
              </a:rPr>
              <a:t>One fallback attempt only, for allowed retryable failures.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8676" y="3314700"/>
            <a:ext cx="3054096" cy="1688992"/>
          </a:xfrm>
          <a:prstGeom prst="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10-settings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346704"/>
            <a:ext cx="2990088" cy="16249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48DFE85-AF55-C77D-A5C7-E6C9545FF5F7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Key system features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1394460"/>
            <a:ext cx="4050792" cy="2230653"/>
          </a:xfrm>
          <a:prstGeom prst="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05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26464"/>
            <a:ext cx="3986784" cy="21666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3702837"/>
            <a:ext cx="398678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One upload produces summary, key findings, gaps and review</a:t>
            </a:r>
          </a:p>
        </p:txBody>
      </p:sp>
      <p:sp>
        <p:nvSpPr>
          <p:cNvPr id="7" name="Oval 6"/>
          <p:cNvSpPr/>
          <p:nvPr/>
        </p:nvSpPr>
        <p:spPr>
          <a:xfrm>
            <a:off x="4956048" y="153162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75504" y="1435608"/>
            <a:ext cx="3255263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PDF upload and text extraction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1915668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75504" y="1819656"/>
            <a:ext cx="3255263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Scanned documents rejected, not analysed</a:t>
            </a:r>
          </a:p>
        </p:txBody>
      </p:sp>
      <p:sp>
        <p:nvSpPr>
          <p:cNvPr id="11" name="Oval 10"/>
          <p:cNvSpPr/>
          <p:nvPr/>
        </p:nvSpPr>
        <p:spPr>
          <a:xfrm>
            <a:off x="4956048" y="229971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5504" y="2203704"/>
            <a:ext cx="3255263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Structured summary and key findings</a:t>
            </a:r>
          </a:p>
        </p:txBody>
      </p:sp>
      <p:sp>
        <p:nvSpPr>
          <p:cNvPr id="13" name="Oval 12"/>
          <p:cNvSpPr/>
          <p:nvPr/>
        </p:nvSpPr>
        <p:spPr>
          <a:xfrm>
            <a:off x="4956048" y="268376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5504" y="2587752"/>
            <a:ext cx="3255263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Research gaps and stated limitations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4956048" y="3067812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2971800"/>
            <a:ext cx="3255263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Literature review content</a:t>
            </a:r>
          </a:p>
        </p:txBody>
      </p:sp>
      <p:sp>
        <p:nvSpPr>
          <p:cNvPr id="17" name="Oval 16"/>
          <p:cNvSpPr/>
          <p:nvPr/>
        </p:nvSpPr>
        <p:spPr>
          <a:xfrm>
            <a:off x="4956048" y="345186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5504" y="3355848"/>
            <a:ext cx="3255263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Cross-paper review across saved papers</a:t>
            </a:r>
          </a:p>
        </p:txBody>
      </p:sp>
      <p:sp>
        <p:nvSpPr>
          <p:cNvPr id="19" name="Oval 18"/>
          <p:cNvSpPr/>
          <p:nvPr/>
        </p:nvSpPr>
        <p:spPr>
          <a:xfrm>
            <a:off x="4956048" y="3835908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3739896"/>
            <a:ext cx="3255263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Private per-user research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78224"/>
            <a:ext cx="3986784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Each section is generated from the uploaded document only, and validated against a declared schema before it is stored.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F514C8F-1F0F-4CAF-B80A-3CBC61A08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B31FCAD-957A-6749-9386-A7F62144030C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Research gaps and literature review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1431036"/>
            <a:ext cx="3593591" cy="1982185"/>
          </a:xfrm>
          <a:prstGeom prst="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06-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63040"/>
            <a:ext cx="3529584" cy="1918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3472657"/>
            <a:ext cx="352958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51AFDB"/>
                </a:solidFill>
                <a:latin typeface="Karla"/>
              </a:rPr>
              <a:t>Research gaps and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180" y="1431036"/>
            <a:ext cx="3593591" cy="1982185"/>
          </a:xfrm>
          <a:prstGeom prst="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07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463040"/>
            <a:ext cx="3529584" cy="1918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01184" y="3472657"/>
            <a:ext cx="352958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51AFDB"/>
                </a:solidFill>
                <a:latin typeface="Karla"/>
              </a:rPr>
              <a:t>Cross-paper literature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3890772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794759"/>
            <a:ext cx="7498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Gaps are drawn from the limitations the authors state and the future work they propose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4165091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069079"/>
            <a:ext cx="7498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Literature review content covers themes, comparisons with prior work and future directions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4439412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343399"/>
            <a:ext cx="7498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Cross-paper review compares several analysed papers; it requires more than one paper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4713731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617719"/>
            <a:ext cx="7498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Where the paper does not support a section, the system reports insufficient evidence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4B022F-3322-2963-AB36-E1E6FBE83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6D31B2-A070-E1F2-C369-FE35B2806EE7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Authentication and data ownership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153162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435608"/>
            <a:ext cx="394106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Email and password sign-in, plus Google sign-in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89738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394106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Password reset and account settings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26314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394106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Private per-user research library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62890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394106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Ownership enforced by PostgreSQL Row Level Security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9466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898648"/>
            <a:ext cx="394106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Owner rights resolved server-side, not in the browser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36042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264408"/>
            <a:ext cx="394106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Karla"/>
              </a:rPr>
              <a:t>No password is stored by this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67328"/>
            <a:ext cx="4160520" cy="932688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858768"/>
            <a:ext cx="3904487" cy="7680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51AFDB"/>
                </a:solidFill>
                <a:latin typeface="Karla"/>
              </a:rPr>
              <a:t>User A cannot access User B's private records.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Verified live: 26 isolation checks, 0 failures, including a direct database query that bypassed the application and returned zero rows.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6924" y="1431036"/>
            <a:ext cx="3355848" cy="1852981"/>
          </a:xfrm>
          <a:prstGeom prst="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38928" y="1472845"/>
            <a:ext cx="3291840" cy="176936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106924" y="3278124"/>
            <a:ext cx="3355848" cy="1852981"/>
          </a:xfrm>
          <a:prstGeom prst="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09-settings-ac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3310128"/>
            <a:ext cx="3291840" cy="17889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40C20C-24E5-E954-D8AC-75D856010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E884D02-BB8D-A7D0-522D-60F5514A315B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Same-paper analysis cache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389888"/>
            <a:ext cx="1572768" cy="42062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PDF upload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13432" y="1536192"/>
            <a:ext cx="182880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96312" y="1389888"/>
            <a:ext cx="1572768" cy="42062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Text extraction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96512" y="1536192"/>
            <a:ext cx="182880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79392" y="1389888"/>
            <a:ext cx="1572768" cy="42062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Normalisation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79592" y="1536192"/>
            <a:ext cx="182880" cy="128016"/>
          </a:xfrm>
          <a:prstGeom prst="right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62472" y="1389888"/>
            <a:ext cx="1572768" cy="420624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Karla"/>
              </a:rPr>
              <a:t>SHA-256 hash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507992" y="1865376"/>
            <a:ext cx="128016" cy="146304"/>
          </a:xfrm>
          <a:prstGeom prst="downArrow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01568" y="2066543"/>
            <a:ext cx="2331720" cy="420624"/>
          </a:xfrm>
          <a:prstGeom prst="roundRect">
            <a:avLst/>
          </a:prstGeom>
          <a:solidFill>
            <a:srgbClr val="3B8794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lnSpc>
                <a:spcPct val="92000"/>
              </a:lnSpc>
            </a:pPr>
            <a:r>
              <a:rPr sz="1050" b="1">
                <a:solidFill>
                  <a:srgbClr val="FFFFFF"/>
                </a:solidFill>
                <a:latin typeface="Karla"/>
              </a:rPr>
              <a:t>Cache lookup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670048"/>
            <a:ext cx="3803904" cy="1335024"/>
          </a:xfrm>
          <a:prstGeom prst="roundRect">
            <a:avLst/>
          </a:prstGeom>
          <a:noFill/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734056"/>
            <a:ext cx="3566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51AFDB"/>
                </a:solidFill>
                <a:latin typeface="Audiowide"/>
              </a:rPr>
              <a:t>HIT - existing valid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90088"/>
            <a:ext cx="3566160" cy="969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Reuse the stored analysis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Create this user's own private record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Karla"/>
              </a:rPr>
              <a:t>Display result - 0 AI calls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1AFDB"/>
                </a:solidFill>
                <a:latin typeface="Karla"/>
              </a:rPr>
              <a:t>Observed: 3.2 s same user, 2.7 s another 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2670048"/>
            <a:ext cx="3803904" cy="1335024"/>
          </a:xfrm>
          <a:prstGeom prst="roundRect">
            <a:avLst/>
          </a:prstGeom>
          <a:noFill/>
          <a:ln w="12700">
            <a:solidFill>
              <a:srgbClr val="3B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6592" y="2734056"/>
            <a:ext cx="3566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3B8794"/>
                </a:solidFill>
                <a:latin typeface="Audiowide"/>
              </a:rPr>
              <a:t>MISS - no stored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990088"/>
            <a:ext cx="3566160" cy="969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Run AI analysis and validate the response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Store the analysis and the cache entry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Karla"/>
              </a:rPr>
              <a:t>Only successful analyses are cached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3B8794"/>
                </a:solidFill>
                <a:latin typeface="Karla"/>
              </a:rPr>
              <a:t>Observed: 32.4 s with three AI calls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133087"/>
            <a:ext cx="7717536" cy="566928"/>
          </a:xfrm>
          <a:prstGeom prst="roundRect">
            <a:avLst/>
          </a:prstGeom>
          <a:solidFill>
            <a:srgbClr val="10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206240"/>
            <a:ext cx="74615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Karla"/>
              </a:rPr>
              <a:t>The cache is global internal infrastructure, not a shared library.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Each user keeps their own private record, the original uploader is never revealed, and Row Level Security still applies.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8CE0D13-CB2A-1438-FBBD-C1B4A762E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31480E6-DD21-D9C2-3BE2-307180A9DAA4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Testing and evaluation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08176"/>
            <a:ext cx="1810512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51AFDB"/>
                </a:solidFill>
                <a:latin typeface="Audiowide"/>
              </a:rPr>
              <a:t>522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83664"/>
            <a:ext cx="1810512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backend tests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08176"/>
            <a:ext cx="1810512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51AFDB"/>
                </a:solidFill>
                <a:latin typeface="Audiowide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83664"/>
            <a:ext cx="1810512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frontend tests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1408176"/>
            <a:ext cx="1810512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51AFDB"/>
                </a:solidFill>
                <a:latin typeface="Audiowide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83664"/>
            <a:ext cx="1810512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live isolation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checks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408176"/>
            <a:ext cx="1810512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51AFDB"/>
                </a:solidFill>
                <a:latin typeface="Audiowide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883664"/>
            <a:ext cx="1810512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failing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23744"/>
            <a:ext cx="771753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51AFDB"/>
                </a:solidFill>
                <a:latin typeface="Audiowide"/>
              </a:rPr>
              <a:t>VERIFIED ON THE CURRENT REPOSITORY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95808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62072"/>
            <a:ext cx="362102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Unit testing against fakes, so the suite runs offline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32384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227832"/>
            <a:ext cx="362102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Integration and API testing on the deployed system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68960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593592"/>
            <a:ext cx="362102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Authentication and session testing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405536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959352"/>
            <a:ext cx="3621024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User ownership and Row Level Security testing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295808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82896" y="2862072"/>
            <a:ext cx="352958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AI provider and fallback testing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332384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82896" y="3227832"/>
            <a:ext cx="352958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Cache testing with four independent signals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368960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82896" y="3593592"/>
            <a:ext cx="352958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Responsive testing on a real device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405536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82896" y="3959352"/>
            <a:ext cx="352958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Karla"/>
              </a:rPr>
              <a:t>Ruff, TypeScript and production build all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443984"/>
            <a:ext cx="771753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B8CEE4"/>
                </a:solidFill>
                <a:latin typeface="Karla"/>
              </a:rPr>
              <a:t>5 further tests call live providers and are skipped by design. No model accuracy value is claimed: there is no labelled benchmark.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BDE00E-A21F-F6AE-5C8E-627FCE426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2E70F73-1839-BCDC-6D77-6DAB33E7C404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Results and achievements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08176"/>
            <a:ext cx="771753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51AFDB"/>
                </a:solidFill>
                <a:latin typeface="Audiowide"/>
              </a:rPr>
              <a:t>OBSERVED IN THE TESTED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55648"/>
            <a:ext cx="3931920" cy="420624"/>
          </a:xfrm>
          <a:prstGeom prst="roundRect">
            <a:avLst/>
          </a:prstGeom>
          <a:solidFill>
            <a:srgbClr val="10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837943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Cache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2928" y="1819656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Karla"/>
              </a:rPr>
              <a:t>32.4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37943"/>
            <a:ext cx="78638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3 AI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49424"/>
            <a:ext cx="3931920" cy="420624"/>
          </a:xfrm>
          <a:prstGeom prst="roundRect">
            <a:avLst/>
          </a:prstGeom>
          <a:solidFill>
            <a:srgbClr val="10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33172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Cache hit, same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31343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Karla"/>
              </a:rPr>
              <a:t>3.2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331720"/>
            <a:ext cx="78638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0 AI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43200"/>
            <a:ext cx="3931920" cy="420624"/>
          </a:xfrm>
          <a:prstGeom prst="roundRect">
            <a:avLst/>
          </a:prstGeom>
          <a:solidFill>
            <a:srgbClr val="10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825496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Cache hit, different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807208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51AFDB"/>
                </a:solidFill>
                <a:latin typeface="Karla"/>
              </a:rPr>
              <a:t>2.7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825496"/>
            <a:ext cx="78638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B8CEE4"/>
                </a:solidFill>
                <a:latin typeface="Karla"/>
              </a:rPr>
              <a:t>0 AI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91840"/>
            <a:ext cx="39319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A repeated analysis costs about a tenth of the time and no tokens, while each user keeps a separate private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1184" y="1719072"/>
            <a:ext cx="3529584" cy="2139696"/>
          </a:xfrm>
          <a:prstGeom prst="roundRect">
            <a:avLst/>
          </a:prstGeom>
          <a:noFill/>
          <a:ln w="12700">
            <a:solidFill>
              <a:srgbClr val="3B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1810512"/>
            <a:ext cx="327355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3B8794"/>
                </a:solidFill>
                <a:latin typeface="Audiowide"/>
              </a:rPr>
              <a:t>PROVIDER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03120"/>
            <a:ext cx="3273552" cy="16824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Under the owner's configuration all five evaluation papers completed, but every one was produced by the fallback provider.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Karla"/>
              </a:rPr>
              <a:t>At its free service tier the primary provider allows 7,000 input tokens per minute, while the papers required 7,920 to 20,362 in a single request.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51AFDB"/>
                </a:solidFill>
                <a:latin typeface="Karla"/>
              </a:rPr>
              <a:t>The fallback worked correctly - and in doing so concealed that the primary was unusable.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41648"/>
            <a:ext cx="771753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B8CEE4"/>
                </a:solidFill>
                <a:latin typeface="Karla"/>
              </a:rPr>
              <a:t>Isolation verified live: 26 checks, 0 failures. Deployed and publicly reachable. No universal performance claim is made.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6601933-D563-A111-9B0A-BD2E66F27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0D87C-A950-C309-6AC6-BFB35082F760}"/>
              </a:ext>
            </a:extLst>
          </p:cNvPr>
          <p:cNvSpPr txBox="1"/>
          <p:nvPr/>
        </p:nvSpPr>
        <p:spPr>
          <a:xfrm>
            <a:off x="-1682242" y="4946904"/>
            <a:ext cx="4946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8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lang="en-US" sz="800" b="1" dirty="0">
              <a:solidFill>
                <a:srgbClr val="51AFDB"/>
              </a:solidFill>
              <a:latin typeface="Audiowi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udiowide"/>
              </a:rPr>
              <a:t>Conclusion and future work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713232" y="512064"/>
            <a:ext cx="7708392" cy="630936"/>
          </a:xfrm>
          <a:prstGeom prst="snip2Diag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08176"/>
            <a:ext cx="7717536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Karla"/>
              </a:rPr>
              <a:t>ResearchForge provides an AI-assisted workflow for analysing academic research papers and extracting structured research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48256"/>
            <a:ext cx="3803904" cy="2231136"/>
          </a:xfrm>
          <a:prstGeom prst="roundRect">
            <a:avLst/>
          </a:prstGeom>
          <a:solidFill>
            <a:srgbClr val="10355F"/>
          </a:solidFill>
          <a:ln w="12700">
            <a:solidFill>
              <a:srgbClr val="51A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351129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51AFDB"/>
                </a:solidFill>
                <a:latin typeface="Audiowide"/>
              </a:rPr>
              <a:t>DELIVERED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253746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441448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Upload, extraction and AI analysis</a:t>
            </a:r>
          </a:p>
        </p:txBody>
      </p:sp>
      <p:sp>
        <p:nvSpPr>
          <p:cNvPr id="9" name="Oval 8"/>
          <p:cNvSpPr/>
          <p:nvPr/>
        </p:nvSpPr>
        <p:spPr>
          <a:xfrm>
            <a:off x="859536" y="282092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724912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Research gaps and literature review</a:t>
            </a:r>
          </a:p>
        </p:txBody>
      </p:sp>
      <p:sp>
        <p:nvSpPr>
          <p:cNvPr id="11" name="Oval 10"/>
          <p:cNvSpPr/>
          <p:nvPr/>
        </p:nvSpPr>
        <p:spPr>
          <a:xfrm>
            <a:off x="859536" y="3104388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3008376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Cross-paper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3387852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3291840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Authentication and per-user ownership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" y="367131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575304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Provider routing with one fallback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" y="395478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858768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Same-paper analysis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26864" y="2048256"/>
            <a:ext cx="3803904" cy="2231136"/>
          </a:xfrm>
          <a:prstGeom prst="roundRect">
            <a:avLst/>
          </a:prstGeom>
          <a:noFill/>
          <a:ln w="12700">
            <a:solidFill>
              <a:srgbClr val="3B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73168" y="2139696"/>
            <a:ext cx="351129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3B8794"/>
                </a:solidFill>
                <a:latin typeface="Audiowide"/>
              </a:rPr>
              <a:t>FUTURE WORK</a:t>
            </a:r>
          </a:p>
        </p:txBody>
      </p:sp>
      <p:sp>
        <p:nvSpPr>
          <p:cNvPr id="21" name="Oval 20"/>
          <p:cNvSpPr/>
          <p:nvPr/>
        </p:nvSpPr>
        <p:spPr>
          <a:xfrm>
            <a:off x="4773168" y="253746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92624" y="2441448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Production vector retrieval (RAG)</a:t>
            </a:r>
          </a:p>
        </p:txBody>
      </p:sp>
      <p:sp>
        <p:nvSpPr>
          <p:cNvPr id="23" name="Oval 22"/>
          <p:cNvSpPr/>
          <p:nvPr/>
        </p:nvSpPr>
        <p:spPr>
          <a:xfrm>
            <a:off x="4773168" y="2820924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2724912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Stronger retrieval and ranking</a:t>
            </a:r>
          </a:p>
        </p:txBody>
      </p:sp>
      <p:sp>
        <p:nvSpPr>
          <p:cNvPr id="25" name="Oval 24"/>
          <p:cNvSpPr/>
          <p:nvPr/>
        </p:nvSpPr>
        <p:spPr>
          <a:xfrm>
            <a:off x="4773168" y="3104388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92624" y="3008376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Citation-aware evidence linking</a:t>
            </a:r>
          </a:p>
        </p:txBody>
      </p:sp>
      <p:sp>
        <p:nvSpPr>
          <p:cNvPr id="27" name="Oval 26"/>
          <p:cNvSpPr/>
          <p:nvPr/>
        </p:nvSpPr>
        <p:spPr>
          <a:xfrm>
            <a:off x="4773168" y="3387852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92624" y="3291840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Larger benchmark and human evaluation</a:t>
            </a:r>
          </a:p>
        </p:txBody>
      </p:sp>
      <p:sp>
        <p:nvSpPr>
          <p:cNvPr id="29" name="Oval 28"/>
          <p:cNvSpPr/>
          <p:nvPr/>
        </p:nvSpPr>
        <p:spPr>
          <a:xfrm>
            <a:off x="4773168" y="3671316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92624" y="3575304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Document versioning and multilingual support</a:t>
            </a:r>
          </a:p>
        </p:txBody>
      </p:sp>
      <p:sp>
        <p:nvSpPr>
          <p:cNvPr id="31" name="Oval 30"/>
          <p:cNvSpPr/>
          <p:nvPr/>
        </p:nvSpPr>
        <p:spPr>
          <a:xfrm>
            <a:off x="4773168" y="3954780"/>
            <a:ext cx="96012" cy="96012"/>
          </a:xfrm>
          <a:prstGeom prst="ellipse">
            <a:avLst/>
          </a:prstGeom>
          <a:solidFill>
            <a:srgbClr val="51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92624" y="3858768"/>
            <a:ext cx="3291839" cy="4663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Karla"/>
              </a:rPr>
              <a:t>Richer research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407408"/>
            <a:ext cx="771753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dirty="0" err="1">
                <a:solidFill>
                  <a:srgbClr val="51AFDB"/>
                </a:solidFill>
                <a:latin typeface="Audiowide"/>
              </a:rPr>
              <a:t>researchforge.rukon.dev</a:t>
            </a:r>
            <a:endParaRPr sz="1200" b="1" dirty="0">
              <a:solidFill>
                <a:srgbClr val="51AFDB"/>
              </a:solidFill>
              <a:latin typeface="Audiowide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4BCDC8B-ACD8-441A-C542-24230391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21" y="53807"/>
            <a:ext cx="517630" cy="403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57"/>
          <p:cNvSpPr/>
          <p:nvPr/>
        </p:nvSpPr>
        <p:spPr>
          <a:xfrm>
            <a:off x="1727250" y="539500"/>
            <a:ext cx="5689500" cy="2476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57"/>
          <p:cNvSpPr txBox="1">
            <a:spLocks noGrp="1"/>
          </p:cNvSpPr>
          <p:nvPr>
            <p:ph type="ctrTitle"/>
          </p:nvPr>
        </p:nvSpPr>
        <p:spPr>
          <a:xfrm>
            <a:off x="2172514" y="1180251"/>
            <a:ext cx="4661700" cy="11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 all!</a:t>
            </a:r>
            <a:endParaRPr dirty="0"/>
          </a:p>
        </p:txBody>
      </p:sp>
      <p:grpSp>
        <p:nvGrpSpPr>
          <p:cNvPr id="1421" name="Google Shape;1421;p57"/>
          <p:cNvGrpSpPr/>
          <p:nvPr/>
        </p:nvGrpSpPr>
        <p:grpSpPr>
          <a:xfrm>
            <a:off x="1006807" y="487596"/>
            <a:ext cx="288601" cy="1096693"/>
            <a:chOff x="1006700" y="2603975"/>
            <a:chExt cx="55450" cy="210700"/>
          </a:xfrm>
        </p:grpSpPr>
        <p:sp>
          <p:nvSpPr>
            <p:cNvPr id="1422" name="Google Shape;1422;p57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7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7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7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7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7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8" name="Google Shape;1428;p57"/>
          <p:cNvGrpSpPr/>
          <p:nvPr/>
        </p:nvGrpSpPr>
        <p:grpSpPr>
          <a:xfrm rot="5400000">
            <a:off x="7769557" y="3906771"/>
            <a:ext cx="288601" cy="1096693"/>
            <a:chOff x="1006700" y="2603975"/>
            <a:chExt cx="55450" cy="210700"/>
          </a:xfrm>
        </p:grpSpPr>
        <p:sp>
          <p:nvSpPr>
            <p:cNvPr id="1429" name="Google Shape;1429;p57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57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57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57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57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57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5" name="Google Shape;1435;p57"/>
          <p:cNvGrpSpPr/>
          <p:nvPr/>
        </p:nvGrpSpPr>
        <p:grpSpPr>
          <a:xfrm>
            <a:off x="551124" y="3629702"/>
            <a:ext cx="1178637" cy="1096691"/>
            <a:chOff x="827350" y="3629733"/>
            <a:chExt cx="1431600" cy="1332067"/>
          </a:xfrm>
        </p:grpSpPr>
        <p:sp>
          <p:nvSpPr>
            <p:cNvPr id="1436" name="Google Shape;1436;p57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57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7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57"/>
          <p:cNvGrpSpPr/>
          <p:nvPr/>
        </p:nvGrpSpPr>
        <p:grpSpPr>
          <a:xfrm>
            <a:off x="322602" y="2902809"/>
            <a:ext cx="781224" cy="726909"/>
            <a:chOff x="827350" y="3629733"/>
            <a:chExt cx="1431600" cy="1332067"/>
          </a:xfrm>
        </p:grpSpPr>
        <p:sp>
          <p:nvSpPr>
            <p:cNvPr id="1440" name="Google Shape;1440;p57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7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57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3" name="Google Shape;1443;p57"/>
          <p:cNvGrpSpPr/>
          <p:nvPr/>
        </p:nvGrpSpPr>
        <p:grpSpPr>
          <a:xfrm>
            <a:off x="1816189" y="4394848"/>
            <a:ext cx="356325" cy="331552"/>
            <a:chOff x="827350" y="3629733"/>
            <a:chExt cx="1431600" cy="1332067"/>
          </a:xfrm>
        </p:grpSpPr>
        <p:sp>
          <p:nvSpPr>
            <p:cNvPr id="1444" name="Google Shape;1444;p57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57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57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7" name="Google Shape;1447;p57"/>
          <p:cNvGrpSpPr/>
          <p:nvPr/>
        </p:nvGrpSpPr>
        <p:grpSpPr>
          <a:xfrm>
            <a:off x="7466251" y="219713"/>
            <a:ext cx="895180" cy="832942"/>
            <a:chOff x="827350" y="3629733"/>
            <a:chExt cx="1431600" cy="1332067"/>
          </a:xfrm>
        </p:grpSpPr>
        <p:sp>
          <p:nvSpPr>
            <p:cNvPr id="1448" name="Google Shape;1448;p57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57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57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1" name="Google Shape;1451;p57"/>
          <p:cNvGrpSpPr/>
          <p:nvPr/>
        </p:nvGrpSpPr>
        <p:grpSpPr>
          <a:xfrm>
            <a:off x="8131283" y="1065715"/>
            <a:ext cx="598982" cy="557337"/>
            <a:chOff x="827350" y="3629733"/>
            <a:chExt cx="1431600" cy="1332067"/>
          </a:xfrm>
        </p:grpSpPr>
        <p:sp>
          <p:nvSpPr>
            <p:cNvPr id="1452" name="Google Shape;1452;p57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7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7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5" name="Google Shape;1455;p57"/>
          <p:cNvGrpSpPr/>
          <p:nvPr/>
        </p:nvGrpSpPr>
        <p:grpSpPr>
          <a:xfrm>
            <a:off x="6901231" y="620669"/>
            <a:ext cx="464268" cy="431989"/>
            <a:chOff x="827350" y="3629733"/>
            <a:chExt cx="1431600" cy="1332067"/>
          </a:xfrm>
        </p:grpSpPr>
        <p:sp>
          <p:nvSpPr>
            <p:cNvPr id="1456" name="Google Shape;1456;p57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57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7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F373CD4-6C50-B923-E0EB-8D80D650D33D}"/>
              </a:ext>
            </a:extLst>
          </p:cNvPr>
          <p:cNvSpPr/>
          <p:nvPr/>
        </p:nvSpPr>
        <p:spPr>
          <a:xfrm>
            <a:off x="2236763" y="4208352"/>
            <a:ext cx="4758935" cy="40439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CBF02-989B-3D1F-6DAC-F74B3186DB72}"/>
              </a:ext>
            </a:extLst>
          </p:cNvPr>
          <p:cNvSpPr txBox="1"/>
          <p:nvPr/>
        </p:nvSpPr>
        <p:spPr>
          <a:xfrm>
            <a:off x="2372467" y="4272047"/>
            <a:ext cx="4955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51AFDB"/>
                </a:solidFill>
                <a:latin typeface="Audiowide"/>
              </a:rPr>
              <a:t>https://github.com/tirukon015/researchforge</a:t>
            </a:r>
          </a:p>
        </p:txBody>
      </p:sp>
      <p:pic>
        <p:nvPicPr>
          <p:cNvPr id="9" name="Picture 8" descr="Github Logo - Free social media icons">
            <a:extLst>
              <a:ext uri="{FF2B5EF4-FFF2-40B4-BE49-F238E27FC236}">
                <a16:creationId xmlns:a16="http://schemas.microsoft.com/office/drawing/2014/main" id="{117A2C42-305B-4D29-B6A0-67B9D8F01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933" y="4291843"/>
            <a:ext cx="215105" cy="215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</p:transition>
    </mc:Choice>
    <mc:Fallback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Cyber-Futuristic AI Technology Thesis Defense by Slidesgo">
  <a:themeElements>
    <a:clrScheme name="Simple Light">
      <a:dk1>
        <a:srgbClr val="031126"/>
      </a:dk1>
      <a:lt1>
        <a:srgbClr val="FFFFFF"/>
      </a:lt1>
      <a:dk2>
        <a:srgbClr val="10355F"/>
      </a:dk2>
      <a:lt2>
        <a:srgbClr val="3B8794"/>
      </a:lt2>
      <a:accent1>
        <a:srgbClr val="51AF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1364</Words>
  <Application>Microsoft Office PowerPoint</Application>
  <PresentationFormat>On-screen Show (16:9)</PresentationFormat>
  <Paragraphs>246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Audiowide</vt:lpstr>
      <vt:lpstr>Karla</vt:lpstr>
      <vt:lpstr>Arial</vt:lpstr>
      <vt:lpstr>Proxima Nova Semibold</vt:lpstr>
      <vt:lpstr>Proxima Nova</vt:lpstr>
      <vt:lpstr>Cyber-Futuristic AI Technology Thesis Defense by Slidesgo</vt:lpstr>
      <vt:lpstr>Slidesgo Final Pages</vt:lpstr>
      <vt:lpstr>AI RESEARCH PAPER ASSISTANT</vt:lpstr>
      <vt:lpstr>Background and motivation</vt:lpstr>
      <vt:lpstr>Problem statement</vt:lpstr>
      <vt:lpstr>Project objectives</vt:lpstr>
      <vt:lpstr>Proposed solution: ResearchForge</vt:lpstr>
      <vt:lpstr>Methodology</vt:lpstr>
      <vt:lpstr>System architecture</vt:lpstr>
      <vt:lpstr>AI model implementation</vt:lpstr>
      <vt:lpstr>Key system features</vt:lpstr>
      <vt:lpstr>Research gaps and literature review</vt:lpstr>
      <vt:lpstr>Authentication and data ownership</vt:lpstr>
      <vt:lpstr>Same-paper analysis cache</vt:lpstr>
      <vt:lpstr>Testing and evaluation</vt:lpstr>
      <vt:lpstr>Results and achievements</vt:lpstr>
      <vt:lpstr>Conclusion and future work</vt:lpstr>
      <vt:lpstr>Thank You all!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Touhidul Islam Rukon</cp:lastModifiedBy>
  <cp:revision>5</cp:revision>
  <dcterms:modified xsi:type="dcterms:W3CDTF">2026-09-05T17:36:58Z</dcterms:modified>
</cp:coreProperties>
</file>