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7816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7816" cy="3027578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7816" cy="2788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06624"/>
            <a:ext cx="21387816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19833336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 b="1">
                <a:solidFill>
                  <a:srgbClr val="FFFFFF"/>
                </a:solidFill>
                <a:latin typeface="Calibri"/>
              </a:rPr>
              <a:t>ResearchForge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9833336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0">
                <a:solidFill>
                  <a:srgbClr val="BFD3F2"/>
                </a:solidFill>
                <a:latin typeface="Calibri"/>
              </a:rPr>
              <a:t>An AI Research Paper Assistant — grounded, isolated, and honestly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9833336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BFD3F2"/>
                </a:solidFill>
                <a:latin typeface="Calibri"/>
              </a:rPr>
              <a:t>[GROUP MEMBER NAMES &amp; STUDENT IDs]</a:t>
            </a:r>
          </a:p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BFD3F2"/>
                </a:solidFill>
                <a:latin typeface="Calibri"/>
              </a:rPr>
              <a:t>BIT 4543 Artificial Intelligence · Project #17 · Lecturer: Azuan Nazeer · </a:t>
            </a:r>
            <a:r>
              <a:rPr sz="2100" b="1">
                <a:solidFill>
                  <a:srgbClr val="FFFFFF"/>
                </a:solidFill>
                <a:latin typeface="Calibri"/>
              </a:rPr>
              <a:t>researchforge.rukon.dev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63240"/>
            <a:ext cx="11386566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82696"/>
            <a:ext cx="1083792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10837926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Calibri"/>
              </a:rPr>
              <a:t>Researchers read papers to decide which papers to read. For every result in a literature search: what does it claim, what does it leave open, how does it relate to the rest?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5669280"/>
            <a:ext cx="82296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5669280"/>
            <a:ext cx="10472166" cy="1234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0F172A"/>
                </a:solidFill>
                <a:latin typeface="Calibri"/>
              </a:rPr>
              <a:t>A general chatbot will answer questions about a paper it never read. 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B45309"/>
                </a:solidFill>
                <a:latin typeface="Calibri"/>
              </a:rPr>
              <a:t>A fabricated citation costs more time to detect than the summary saved.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438126" y="3063240"/>
            <a:ext cx="817245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2446" y="3282696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SIX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2446" y="3886200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1  Summaries · research gaps · literature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2446" y="4361688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2  Grounding enforced structurally, not by 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2446" y="4837176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3  Two providers, owner-selected, automatic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2446" y="5312664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4  Isolation enforced by the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2446" y="5788152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5  Each paper analysed once, however many upload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2446" y="6263640"/>
            <a:ext cx="762381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6  Empirical evaluation on real papers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7178040"/>
            <a:ext cx="19833336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7397496"/>
            <a:ext cx="1983333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HOW IT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7955280"/>
            <a:ext cx="9368028" cy="2743200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8019288"/>
            <a:ext cx="9368028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F172A"/>
                </a:solidFill>
                <a:latin typeface="Consolas"/>
              </a:rPr>
              <a:t>Browser  →  Next.js frontend ─┐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                    ├─  one Vercel project, shared origin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FastAPI backend  ◄──┘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          │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┌───────────┼───────────┐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▼           ▼           ▼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pypdf      provider     Supabase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extraction    router     PostgreSQL + RLS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          │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  ┌───────┴───────┐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    ▼               ▼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Anthropic Claude    Groq Qwen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10789920"/>
            <a:ext cx="9368028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64748B"/>
                </a:solidFill>
                <a:latin typeface="Calibri"/>
              </a:rPr>
              <a:t>Next.js 16 · FastAPI · Python 3.14 · 6,366 lines across 35 modules · 538 automated tests passing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22508" y="8001000"/>
            <a:ext cx="9368028" cy="1417320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59668" y="8092440"/>
            <a:ext cx="9368028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F172A"/>
                </a:solidFill>
                <a:latin typeface="Consolas"/>
              </a:rPr>
              <a:t>PDF → extract → SHA-256 hash → cache?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→ 3 grounded passes → store</a:t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/>
            </a:r>
          </a:p>
          <a:p>
            <a:r>
              <a:rPr sz="1700">
                <a:solidFill>
                  <a:srgbClr val="0F172A"/>
                </a:solidFill>
                <a:latin typeface="Consolas"/>
              </a:rPr>
              <a:t>        cache hit  3.2 s   |   miss  32.4 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922508" y="9372600"/>
          <a:ext cx="936802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014"/>
                <a:gridCol w="4684014"/>
              </a:tblGrid>
              <a:tr h="402336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Grounding layer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every claim traceable to the text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output constrained to a declared model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non-conforming output discarded, not repaired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Escape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must report insufficient evidence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10922508" y="11475720"/>
            <a:ext cx="82296" cy="6217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96828" y="11475720"/>
            <a:ext cx="9093708" cy="6217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40AF"/>
                </a:solidFill>
                <a:latin typeface="Calibri"/>
              </a:rPr>
              <a:t>Not RAG. </a:t>
            </a:r>
            <a:r>
              <a:rPr sz="2200" b="0">
                <a:solidFill>
                  <a:srgbClr val="0F172A"/>
                </a:solidFill>
                <a:latin typeface="Calibri"/>
              </a:rPr>
              <a:t>Whole-document grounded generation. No embeddings, no retrieval.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12481560"/>
            <a:ext cx="19833336" cy="8869680"/>
          </a:xfrm>
          <a:prstGeom prst="rect">
            <a:avLst/>
          </a:prstGeom>
          <a:solidFill>
            <a:srgbClr val="FDF6EC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12755880"/>
            <a:ext cx="19833336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B45309"/>
                </a:solidFill>
                <a:latin typeface="Calibri"/>
              </a:rPr>
              <a:t>A redundancy mechanism hides the failure it compensates for.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13807440"/>
            <a:ext cx="92765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563EB"/>
                </a:solidFill>
                <a:latin typeface="Calibri"/>
              </a:rPr>
              <a:t>THE RESULT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143000" y="14356080"/>
          <a:ext cx="927658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47"/>
                <a:gridCol w="2319147"/>
                <a:gridCol w="2319147"/>
                <a:gridCol w="2319147"/>
              </a:tblGrid>
              <a:tr h="50292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E40A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E40A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E40A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E40AF"/>
                          </a:solidFill>
                          <a:latin typeface="Calibri"/>
                        </a:rPr>
                        <a:t>By the configured provider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Claude primary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B45309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Groq primary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B45309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Groq only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0F172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B45309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3000" y="16367760"/>
            <a:ext cx="9276588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64748B"/>
                </a:solidFill>
                <a:latin typeface="Calibri"/>
              </a:rPr>
              <a:t>15 runs · 10 analyses produced · all 10 written by Claude.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68228" y="13807440"/>
            <a:ext cx="92765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563EB"/>
                </a:solidFill>
                <a:latin typeface="Calibri"/>
              </a:rPr>
              <a:t>THE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68228" y="14310360"/>
            <a:ext cx="9276588" cy="1143000"/>
          </a:xfrm>
          <a:prstGeom prst="rect">
            <a:avLst/>
          </a:prstGeom>
          <a:solidFill>
            <a:srgbClr val="F3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32820" y="14383512"/>
            <a:ext cx="927658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A3906"/>
                </a:solidFill>
                <a:latin typeface="Consolas"/>
              </a:rPr>
              <a:t>Request too large for model `qwen/qwen3.6-27b`</a:t>
            </a:r>
          </a:p>
          <a:p>
            <a:r>
              <a:rPr sz="1900">
                <a:solidFill>
                  <a:srgbClr val="7A3906"/>
                </a:solidFill>
                <a:latin typeface="Consolas"/>
              </a:rPr>
              <a:t>on input tokens per minute (ITPM):</a:t>
            </a:r>
          </a:p>
          <a:p>
            <a:r>
              <a:rPr sz="1900">
                <a:solidFill>
                  <a:srgbClr val="7A3906"/>
                </a:solidFill>
                <a:latin typeface="Consolas"/>
              </a:rPr>
              <a:t>Limit 7000, Requested 7920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968228" y="15544800"/>
          <a:ext cx="927658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47"/>
                <a:gridCol w="2319147"/>
                <a:gridCol w="2319147"/>
                <a:gridCol w="2319147"/>
              </a:tblGrid>
              <a:tr h="384048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Pages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Tokens needed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82296" marR="82296" marT="27432" marB="2743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SciBERT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7,920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B45309"/>
                          </a:solidFill>
                          <a:latin typeface="Calibri"/>
                        </a:rPr>
                        <a:t>1.1×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11,745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B45309"/>
                          </a:solidFill>
                          <a:latin typeface="Calibri"/>
                        </a:rPr>
                        <a:t>1.7×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Factual Consistency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12,661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B45309"/>
                          </a:solidFill>
                          <a:latin typeface="Calibri"/>
                        </a:rPr>
                        <a:t>1.8×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18,498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B45309"/>
                          </a:solidFill>
                          <a:latin typeface="Calibri"/>
                        </a:rPr>
                        <a:t>2.6×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20,362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B45309"/>
                          </a:solidFill>
                          <a:latin typeface="Calibri"/>
                        </a:rPr>
                        <a:t>2.9×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143000" y="17967960"/>
            <a:ext cx="636727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0" b="1">
                <a:solidFill>
                  <a:srgbClr val="B45309"/>
                </a:solidFill>
                <a:latin typeface="Calibri"/>
              </a:rPr>
              <a:t>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19339560"/>
            <a:ext cx="6367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Groq free-tier limit,</a:t>
            </a:r>
          </a:p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input tokens per minute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0272" y="17967960"/>
            <a:ext cx="636727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0" b="1">
                <a:solidFill>
                  <a:srgbClr val="B45309"/>
                </a:solidFill>
                <a:latin typeface="Calibri"/>
              </a:rPr>
              <a:t>7,920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0272" y="19339560"/>
            <a:ext cx="6367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tokens needed by the</a:t>
            </a:r>
          </a:p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smallest paper (6 pages)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77544" y="17967960"/>
            <a:ext cx="636727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0" b="1">
                <a:solidFill>
                  <a:srgbClr val="B45309"/>
                </a:solidFill>
                <a:latin typeface="Calibri"/>
              </a:rPr>
              <a:t>0/5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77544" y="19339560"/>
            <a:ext cx="6367272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papers Groq</a:t>
            </a:r>
          </a:p>
          <a:p>
            <a:pPr algn="ctr">
              <a:lnSpc>
                <a:spcPct val="105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could analyse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20208239"/>
            <a:ext cx="91440" cy="1005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0" y="20208239"/>
            <a:ext cx="18644616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0F172A"/>
                </a:solidFill>
                <a:latin typeface="Calibri"/>
              </a:rPr>
              <a:t>One provider was completely non-functional. Every analysis succeeded. The interface showed no error.</a:t>
            </a:r>
          </a:p>
          <a:p>
            <a:pPr algn="l">
              <a:lnSpc>
                <a:spcPct val="110000"/>
              </a:lnSpc>
            </a:pPr>
            <a:r>
              <a:rPr sz="2300" b="0">
                <a:solidFill>
                  <a:srgbClr val="0F172A"/>
                </a:solidFill>
                <a:latin typeface="Calibri"/>
              </a:rPr>
              <a:t>Detectable only because every analysis records which provider </a:t>
            </a:r>
            <a:r>
              <a:rPr sz="2300" b="1">
                <a:solidFill>
                  <a:srgbClr val="B45309"/>
                </a:solidFill>
                <a:latin typeface="Calibri"/>
              </a:rPr>
              <a:t>actually</a:t>
            </a:r>
            <a:r>
              <a:rPr sz="2300" b="0">
                <a:solidFill>
                  <a:srgbClr val="0F172A"/>
                </a:solidFill>
                <a:latin typeface="Calibri"/>
              </a:rPr>
              <a:t> produced it — and because results were grouped by that record, not by configuration.</a:t>
            </a:r>
          </a:p>
          <a:p>
            <a:pPr algn="l">
              <a:lnSpc>
                <a:spcPct val="110000"/>
              </a:lnSpc>
            </a:pPr>
            <a:r>
              <a:rPr sz="2300" b="1">
                <a:solidFill>
                  <a:srgbClr val="B45309"/>
                </a:solidFill>
                <a:latin typeface="Calibri"/>
              </a:rPr>
              <a:t>Grouping by configuration would have reported that both providers performed identically, while measuring Claude twice.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21625560"/>
            <a:ext cx="9733788" cy="5577840"/>
          </a:xfrm>
          <a:prstGeom prst="rect">
            <a:avLst/>
          </a:prstGeom>
          <a:solidFill>
            <a:srgbClr val="ECFAF4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21863304"/>
            <a:ext cx="9916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47857"/>
                </a:solidFill>
                <a:latin typeface="Calibri"/>
              </a:rPr>
              <a:t>VERIFIED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22402800"/>
            <a:ext cx="9093708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47857"/>
                </a:solidFill>
                <a:latin typeface="Calibri"/>
              </a:rPr>
              <a:t>26 / 0</a:t>
            </a:r>
          </a:p>
          <a:p>
            <a:pPr algn="l">
              <a:lnSpc>
                <a:spcPct val="100000"/>
              </a:lnSpc>
            </a:pPr>
            <a:r>
              <a:rPr sz="2200" b="0">
                <a:solidFill>
                  <a:srgbClr val="0F172A"/>
                </a:solidFill>
                <a:latin typeface="Calibri"/>
              </a:rPr>
              <a:t>live isolation checks passed / failed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23774400"/>
            <a:ext cx="9093708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•  A new user's library is empty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24432768"/>
            <a:ext cx="9093708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•  User B cannot read, delete or review User A's paper — 404, so existence is not disclosed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25091136"/>
            <a:ext cx="9093708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0F172A"/>
                </a:solidFill>
                <a:latin typeface="Calibri"/>
              </a:rPr>
              <a:t>•  PostgREST with the browser's own key returns ZERO rows — isolation is a database guarantee, not application behaviour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1097280" y="25923240"/>
          <a:ext cx="9093708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236"/>
                <a:gridCol w="3031236"/>
                <a:gridCol w="3031236"/>
              </a:tblGrid>
              <a:tr h="301752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 marL="82296" marR="82296" marT="27432" marB="27432" anchor="ctr">
                    <a:solidFill>
                      <a:srgbClr val="D8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82296" marR="82296" marT="27432" marB="27432" anchor="ctr">
                    <a:solidFill>
                      <a:srgbClr val="D8F0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E40AF"/>
                          </a:solidFill>
                          <a:latin typeface="Calibri"/>
                        </a:rPr>
                        <a:t>Model called</a:t>
                      </a:r>
                    </a:p>
                  </a:txBody>
                  <a:tcPr marL="82296" marR="82296" marT="27432" marB="27432" anchor="ctr">
                    <a:solidFill>
                      <a:srgbClr val="D8F0E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First upload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32.4 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Repeat, same user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3.2 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Repeat, different user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2.7 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10785348" y="21625560"/>
            <a:ext cx="9825228" cy="5577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05388" y="21863304"/>
            <a:ext cx="9916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HONEST LIMITATIONS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5388" y="22448520"/>
            <a:ext cx="918514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172A"/>
                </a:solidFill>
                <a:latin typeface="Calibri"/>
              </a:rPr>
              <a:t>•  No ground truth.</a:t>
            </a:r>
            <a:r>
              <a:rPr sz="2100" b="0">
                <a:solidFill>
                  <a:srgbClr val="0F172A"/>
                </a:solidFill>
                <a:latin typeface="Calibri"/>
              </a:rPr>
              <a:t> We measured how much the system produced, not whether it is right. A model inventing nine plausible gaps would score identically.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05388" y="23362920"/>
            <a:ext cx="918514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172A"/>
                </a:solidFill>
                <a:latin typeface="Calibri"/>
              </a:rPr>
              <a:t>•  Effectively single-provider.</a:t>
            </a:r>
            <a:r>
              <a:rPr sz="2100" b="0">
                <a:solidFill>
                  <a:srgbClr val="0F172A"/>
                </a:solidFill>
                <a:latin typeface="Calibri"/>
              </a:rPr>
              <a:t> Redundancy is architectural, not actual.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05388" y="24277320"/>
            <a:ext cx="918514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172A"/>
                </a:solidFill>
                <a:latin typeface="Calibri"/>
              </a:rPr>
              <a:t>•  Insufficient-evidence path never triggered.</a:t>
            </a:r>
            <a:r>
              <a:rPr sz="2100" b="0">
                <a:solidFill>
                  <a:srgbClr val="0F172A"/>
                </a:solidFill>
                <a:latin typeface="Calibri"/>
              </a:rPr>
              <a:t> 0/10 runs.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05388" y="25191720"/>
            <a:ext cx="918514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172A"/>
                </a:solidFill>
                <a:latin typeface="Calibri"/>
              </a:rPr>
              <a:t>•  Narrow corpus.</a:t>
            </a:r>
            <a:r>
              <a:rPr sz="2100" b="0">
                <a:solidFill>
                  <a:srgbClr val="0F172A"/>
                </a:solidFill>
                <a:latin typeface="Calibri"/>
              </a:rPr>
              <a:t> 5 papers, one discipline, single runs, evaluated by its own authors.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5388" y="26106120"/>
            <a:ext cx="9185148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F172A"/>
                </a:solidFill>
                <a:latin typeface="Calibri"/>
              </a:rPr>
              <a:t>•  Practical limits.</a:t>
            </a:r>
            <a:r>
              <a:rPr sz="2100" b="0">
                <a:solidFill>
                  <a:srgbClr val="0F172A"/>
                </a:solidFill>
                <a:latin typeface="Calibri"/>
              </a:rPr>
              <a:t> ~100 s per new analysis · no OCR · 5 s sign-out window.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27477720"/>
            <a:ext cx="21387816" cy="2295144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27889200"/>
            <a:ext cx="13222224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Calibri"/>
              </a:rPr>
              <a:t>A deployed system meeting all five requirements — grounding enforced structurally, isolation enforced by PostgreSQL, provenance recorded per analysis.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Next: </a:t>
            </a:r>
            <a:r>
              <a:rPr sz="2400" b="0">
                <a:solidFill>
                  <a:srgbClr val="BFD3F2"/>
                </a:solidFill>
                <a:latin typeface="Calibri"/>
              </a:rPr>
              <a:t>ground-truth evaluation with expert-annotated gaps · a second provider that can accept a full paper · a deliberate test of the insufficient-evidence path.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28721304"/>
            <a:ext cx="13222224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FD3F2"/>
                </a:solidFill>
                <a:latin typeface="Calibri"/>
              </a:rPr>
              <a:t>The most valuable results came from checking what the system actually did, rather than trusting what the code implied it would do.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365224" y="2775204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365224" y="2830068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64748B"/>
                </a:solidFill>
                <a:latin typeface="Calibri"/>
              </a:rPr>
              <a:t>QR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422624" y="28117800"/>
            <a:ext cx="4187952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Live system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BFD3F2"/>
                </a:solidFill>
                <a:latin typeface="Calibri"/>
              </a:rPr>
              <a:t>researchforge.rukon.dev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