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left — a stack of 30 paper icons; right — a single quotation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use the rendered architecture diagram from `DIAGRAMS.md` §2.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Visual: the pipeline diagram from `DIAGRAMS.md` §3.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920240"/>
            <a:ext cx="1105783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ResearchForge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63240"/>
            <a:ext cx="11057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 i="0">
                <a:solidFill>
                  <a:srgbClr val="BFD3F2"/>
                </a:solidFill>
                <a:latin typeface="Calibri"/>
              </a:rPr>
              <a:t>An AI Research Paper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14800"/>
            <a:ext cx="1105783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BIT 4543 — Artificial Intelligence  ·  Project #17</a:t>
            </a:r>
          </a:p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BFD3F2"/>
                </a:solidFill>
                <a:latin typeface="Calibri"/>
              </a:rPr>
              <a:t>[GROUP MEMBER NAMES &amp; STUDENT IDs]</a:t>
            </a:r>
          </a:p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BFD3F2"/>
                </a:solidFill>
                <a:latin typeface="Calibri"/>
              </a:rPr>
              <a:t>Lecturer: Azuan Nazeer</a:t>
            </a:r>
          </a:p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researchforge.rukon.dev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9605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9DB8E8"/>
                </a:solidFill>
                <a:latin typeface="Calibri"/>
              </a:rPr>
              <a:t>2/14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11057839" cy="40233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900" b="1" i="0">
                <a:solidFill>
                  <a:srgbClr val="1E40AF"/>
                </a:solidFill>
                <a:latin typeface="Calibri"/>
              </a:rPr>
              <a:t>Researchers read to decide what to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19656"/>
            <a:ext cx="11057839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A literature search returns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dozens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 of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12264"/>
            <a:ext cx="11057839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For each one: What does it claim? What does it leave open? How does it relate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04872"/>
            <a:ext cx="11057839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to the rest?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97480"/>
            <a:ext cx="11057839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This first pass is slow, manual, and repeated for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every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 document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81528"/>
            <a:ext cx="11057839" cy="40233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900" b="1" i="0">
                <a:solidFill>
                  <a:srgbClr val="1E40AF"/>
                </a:solidFill>
                <a:latin typeface="Calibri"/>
              </a:rPr>
              <a:t>And the obvious fix is dangerous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483864"/>
            <a:ext cx="11057839" cy="6217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  <a:latin typeface="Calibri"/>
              </a:rPr>
              <a:t>A general chatbot will answer questions about a paper it has not read. A fabricated citation is </a:t>
            </a:r>
            <a:r>
              <a:rPr sz="1600" b="1" i="0">
                <a:solidFill>
                  <a:srgbClr val="0F172A"/>
                </a:solidFill>
                <a:latin typeface="Calibri"/>
              </a:rPr>
              <a:t>worse than no answer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 — it costs more time to detect than it saved.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105656"/>
            <a:ext cx="11057839" cy="457200"/>
          </a:xfrm>
          <a:prstGeom prst="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105656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105656"/>
            <a:ext cx="10856671" cy="4572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700" b="0" i="0">
                <a:solidFill>
                  <a:srgbClr val="1E40AF"/>
                </a:solidFill>
                <a:latin typeface="Calibri"/>
              </a:rPr>
              <a:t>with a red "unverifiable" stamp.*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9605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9DB8E8"/>
                </a:solidFill>
                <a:latin typeface="Calibri"/>
              </a:rPr>
              <a:t>3/14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17320"/>
          <a:ext cx="1105783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Summaries, research gaps, and literature reviews from uploaded papers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Grounding enforced </a:t>
                      </a:r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structurally</a:t>
                      </a:r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, not by instruction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Two AI providers, owner-selected, automatic fallback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Per-user isolation enforced by the </a:t>
                      </a:r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The same paper analysed once, however many people upload it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Empirical evaluation on real open-access papers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270248"/>
            <a:ext cx="11057839" cy="6217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Five university requirements: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 upload · summarise · identify gaps · literature review · deliver a working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9605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9DB8E8"/>
                </a:solidFill>
                <a:latin typeface="Calibri"/>
              </a:rPr>
              <a:t>4/14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11057839" cy="3255264"/>
          </a:xfrm>
          <a:prstGeom prst="rect">
            <a:avLst/>
          </a:prstGeom>
          <a:solidFill>
            <a:srgbClr val="EC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81328"/>
            <a:ext cx="10838383" cy="3255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Browser ──► Next.js frontend  ─┐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                            ├── one Vercel project, shared origin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         FastAPI backend ◄──┘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               │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   ┌───────────┼────────────┐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   ▼           ▼            ▼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pypdf      Provider      Supabase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extraction    router       PostgreSQL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               │          + RLS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         ┌─────┴─────┐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         ▼           ▼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     Anthropic     Groq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      Claude    Qwen 3.6 27B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818888"/>
            <a:ext cx="11057839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Next.js 16 / React 19 / TypeScript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 — 12 routed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111496"/>
            <a:ext cx="11057839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Python 3.14 / FastAPI / Pydantic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 — 6,366 lines, 35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04104"/>
            <a:ext cx="11057839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Supabase PostgreSQL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 — chosen specifically for Row Level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9605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Analysis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9DB8E8"/>
                </a:solidFill>
                <a:latin typeface="Calibri"/>
              </a:rPr>
              <a:t>5/14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11057839" cy="1115568"/>
          </a:xfrm>
          <a:prstGeom prst="rect">
            <a:avLst/>
          </a:prstGeom>
          <a:solidFill>
            <a:srgbClr val="EC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81328"/>
            <a:ext cx="10838383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PDF ─► extract ─► hash (SHA-256) ─► cache? ─► 3 grounded passes ─► store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                    │               │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               identity by      hit ⇒ 3.2s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                   CONTENT         miss ⇒ 32.4s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79192"/>
            <a:ext cx="11057839" cy="6217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Three separate passes, not one prompt: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 summary · research gaps · literature review. Asking for all three at once produced noticeably weaker gap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300984"/>
            <a:ext cx="11057839" cy="6217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A PDF with no extractable text is rejected (HTTP 422)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 — never sent to a model. A model given no text produces fluent output about nothing.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9605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Grounding Is Enforced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9DB8E8"/>
                </a:solidFill>
                <a:latin typeface="Calibri"/>
              </a:rPr>
              <a:t>6/14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11057839" cy="40233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900" b="1" i="0">
                <a:solidFill>
                  <a:srgbClr val="1E40AF"/>
                </a:solidFill>
                <a:latin typeface="Calibri"/>
              </a:rPr>
              <a:t>Not by asking politely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819656"/>
          <a:ext cx="1105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Every claim must be traceable to the supplied text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Schema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Output constrained to a declared Pydantic model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Output that fails the schema is </a:t>
                      </a:r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discarded, not repaired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Escape hatch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The model must say </a:t>
                      </a:r>
                      <a:r>
                        <a:rPr sz="1500" b="0" i="1">
                          <a:solidFill>
                            <a:srgbClr val="0F172A"/>
                          </a:solidFill>
                          <a:latin typeface="Calibri"/>
                        </a:rPr>
                        <a:t>insufficient evidence</a:t>
                      </a:r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 rather than fill a gap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904488"/>
            <a:ext cx="11057839" cy="786384"/>
          </a:xfrm>
          <a:prstGeom prst="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904488"/>
            <a:ext cx="54864" cy="7863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904488"/>
            <a:ext cx="10856671" cy="78638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700" b="1" i="0">
                <a:solidFill>
                  <a:srgbClr val="1E40AF"/>
                </a:solidFill>
                <a:latin typeface="Calibri"/>
              </a:rPr>
              <a:t>A partially-valid analysis that we patched up would be an invented one.</a:t>
            </a:r>
            <a:r>
              <a:rPr sz="1700" b="0" i="0">
                <a:solidFill>
                  <a:srgbClr val="1E40AF"/>
                </a:solidFill>
                <a:latin typeface="Calibri"/>
              </a:rPr>
              <a:t> That is exactly what the grounding claim forbids — so it is thrown away.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800600"/>
            <a:ext cx="11057839" cy="3474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Honest limit: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 grounding reduces fabrication. It does not verify truth.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9605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 Isolation: the Bug That Taught the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9DB8E8"/>
                </a:solidFill>
                <a:latin typeface="Calibri"/>
              </a:rPr>
              <a:t>7/14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11057839" cy="40233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900" b="1" i="0">
                <a:solidFill>
                  <a:srgbClr val="1E40AF"/>
                </a:solidFill>
                <a:latin typeface="Calibri"/>
              </a:rPr>
              <a:t>The first version was wrong, and every test passed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19656"/>
            <a:ext cx="11057839" cy="1591056"/>
          </a:xfrm>
          <a:prstGeom prst="rect">
            <a:avLst/>
          </a:prstGeom>
          <a:solidFill>
            <a:srgbClr val="EC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883664"/>
            <a:ext cx="10838383" cy="1591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# BEFORE — service-role key: designed to BYPASS Row Level Security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# The policies were present, correct, and completely inert.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# AFTER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"apikey":        anon_key,          # identifies the PROJECT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"Authorization": f"Bearer {token}"  # identifies the PERSON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557016"/>
            <a:ext cx="11057839" cy="3474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  <a:latin typeface="Calibri"/>
              </a:rPr>
              <a:t>Postgres now resolves </a:t>
            </a:r>
            <a:r>
              <a:rPr sz="1600" b="0" i="0">
                <a:solidFill>
                  <a:srgbClr val="0F172A"/>
                </a:solidFill>
                <a:latin typeface="Consolas"/>
              </a:rPr>
              <a:t>auth.uid()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, so </a:t>
            </a:r>
            <a:r>
              <a:rPr sz="1600" b="1" i="0">
                <a:solidFill>
                  <a:srgbClr val="0F172A"/>
                </a:solidFill>
                <a:latin typeface="Calibri"/>
              </a:rPr>
              <a:t>every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 policy filters.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904488"/>
            <a:ext cx="11057839" cy="457200"/>
          </a:xfrm>
          <a:prstGeom prst="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3904488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904488"/>
            <a:ext cx="10856671" cy="4572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700" b="1" i="0">
                <a:solidFill>
                  <a:srgbClr val="1E40AF"/>
                </a:solidFill>
                <a:latin typeface="Calibri"/>
              </a:rPr>
              <a:t>A forgotten filter now returns nothing instead of everything.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71416"/>
            <a:ext cx="11057839" cy="6217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Found by: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 signing in as a second real account and looking. Not by any unit test — at the unit level, nothing was wrong.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9605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Evaluation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9DB8E8"/>
                </a:solidFill>
                <a:latin typeface="Calibri"/>
              </a:rPr>
              <a:t>8/14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11057839" cy="6217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Corpus: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 5 real arXiv papers — Attention, BERT, RAG, SciBERT, Factual Consistency. 6–19 pages, 23,767–69,097 characters. Unmodified.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39112"/>
            <a:ext cx="11057839" cy="40233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900" b="1" i="0">
                <a:solidFill>
                  <a:srgbClr val="1E40AF"/>
                </a:solidFill>
                <a:latin typeface="Calibri"/>
              </a:rPr>
              <a:t>Three decisions that make the numbers mean something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41448"/>
            <a:ext cx="11057839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Group by the provider that ACTUALLY answered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, not the one configured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34056"/>
            <a:ext cx="11057839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Clear the cache between passes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 — it is keyed by content, not 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26664"/>
            <a:ext cx="11057839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Bypass Cloudflare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 — it replaces error bodies with </a:t>
            </a:r>
            <a:r>
              <a:rPr sz="1700" b="0" i="0">
                <a:solidFill>
                  <a:srgbClr val="0F172A"/>
                </a:solidFill>
                <a:latin typeface="Consolas"/>
              </a:rPr>
              <a:t>error code: 502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410712"/>
            <a:ext cx="11057839" cy="3474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  <a:latin typeface="Calibri"/>
              </a:rPr>
              <a:t>Each corresponds to a mistake actually made, and corrected.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3758184"/>
          <a:ext cx="1105783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Claude primary, both enabled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Groq primary, both enabled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Groq only, Claude switched </a:t>
                      </a:r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9605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9DB8E8"/>
                </a:solidFill>
                <a:latin typeface="Calibri"/>
              </a:rPr>
              <a:t>9/14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17320"/>
          <a:ext cx="1105783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6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By the configured provider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Claude primary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5/5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5/5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Groq primary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5/5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0/5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Groq only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0/5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0/5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3118104"/>
            <a:ext cx="11057839" cy="40233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900" b="1" i="0">
                <a:solidFill>
                  <a:srgbClr val="1E40AF"/>
                </a:solidFill>
                <a:latin typeface="Calibri"/>
              </a:rPr>
              <a:t>Output produced (10 analyses, all by Claude)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3520440"/>
          <a:ext cx="1105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Range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Processing time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98.8 s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72.6 – 115.2 s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Key findings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6 – 11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Research gaps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7 – 10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Review themes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5 – 9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605272"/>
            <a:ext cx="11057839" cy="6217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The system completed every paper. It never once used the provider the owner selected.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9605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Groq Produced Nothing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9DB8E8"/>
                </a:solidFill>
                <a:latin typeface="Calibri"/>
              </a:rPr>
              <a:t>10/14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11057839" cy="640080"/>
          </a:xfrm>
          <a:prstGeom prst="rect">
            <a:avLst/>
          </a:prstGeom>
          <a:solidFill>
            <a:srgbClr val="EC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81328"/>
            <a:ext cx="10838383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Request too large for model `qwen/qwen3.6-27b`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0F172A"/>
                </a:solidFill>
                <a:latin typeface="Consolas"/>
              </a:rPr>
              <a:t>on input tokens per minute (ITPM): Limit 7000, Requested 7920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203704"/>
          <a:ext cx="110578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567"/>
                <a:gridCol w="2211567"/>
                <a:gridCol w="2211567"/>
                <a:gridCol w="2211567"/>
                <a:gridCol w="2211571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Pages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Tokens needed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Limit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Over by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SciBERT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7,920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7,000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1.1×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Attention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11,745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7,000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1.7×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Factual Consistency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12,661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7,000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1.8×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BERT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18,498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7,000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2.6×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20,362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7,000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2.9×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672584"/>
            <a:ext cx="11057839" cy="62179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This is not a pacing problem.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 A single 7,920-token request can never fit a 7,000-tokens-per-minute budget, no matter how long you wait.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294376"/>
            <a:ext cx="11057839" cy="34747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Even the 6-page paper is too big. At this tier, Groq cannot read a paper.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9605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Finding That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9DB8E8"/>
                </a:solidFill>
                <a:latin typeface="Calibri"/>
              </a:rPr>
              <a:t>11/14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11057839" cy="40233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900" b="1" i="0">
                <a:solidFill>
                  <a:srgbClr val="1E40AF"/>
                </a:solidFill>
                <a:latin typeface="Calibri"/>
              </a:rPr>
              <a:t>A redundancy mechanism hides the failure it compensates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19656"/>
            <a:ext cx="11057839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One provider was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completely non-functional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12264"/>
            <a:ext cx="11057839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Every analysis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succeeded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04872"/>
            <a:ext cx="11057839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The interface showed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no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97480"/>
            <a:ext cx="11057839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A user would have noticed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nothing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81528"/>
            <a:ext cx="11057839" cy="40233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900" b="1" i="0">
                <a:solidFill>
                  <a:srgbClr val="1E40AF"/>
                </a:solidFill>
                <a:latin typeface="Calibri"/>
              </a:rPr>
              <a:t>It was detectable only because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483864"/>
            <a:ext cx="11057839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Every analysis records which provider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actually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 produced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76472"/>
            <a:ext cx="11057839" cy="29260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The evaluation grouped by that record — </a:t>
            </a:r>
            <a:r>
              <a:rPr sz="1700" b="1" i="0">
                <a:solidFill>
                  <a:srgbClr val="0F172A"/>
                </a:solidFill>
                <a:latin typeface="Calibri"/>
              </a:rPr>
              <a:t>not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 by configuration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160520"/>
            <a:ext cx="11057839" cy="786384"/>
          </a:xfrm>
          <a:prstGeom prst="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160520"/>
            <a:ext cx="54864" cy="7863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60520"/>
            <a:ext cx="10856671" cy="78638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700" b="0" i="0">
                <a:solidFill>
                  <a:srgbClr val="1E40AF"/>
                </a:solidFill>
                <a:latin typeface="Calibri"/>
              </a:rPr>
              <a:t>Grouping by configuration — the obvious choice — would have reported </a:t>
            </a:r>
            <a:r>
              <a:rPr sz="1700" b="0" i="1">
                <a:solidFill>
                  <a:srgbClr val="1E40AF"/>
                </a:solidFill>
                <a:latin typeface="Calibri"/>
              </a:rPr>
              <a:t>"both providers perform identically."</a:t>
            </a:r>
            <a:r>
              <a:rPr sz="1700" b="0" i="0">
                <a:solidFill>
                  <a:srgbClr val="1E40AF"/>
                </a:solidFill>
                <a:latin typeface="Calibri"/>
              </a:rPr>
              <a:t> It would have been measuring Claude twice.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9605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Verified: Isolation and Caching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9DB8E8"/>
                </a:solidFill>
                <a:latin typeface="Calibri"/>
              </a:rPr>
              <a:t>12/14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11057839" cy="370149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747" b="1" i="0">
                <a:solidFill>
                  <a:srgbClr val="1E40AF"/>
                </a:solidFill>
                <a:latin typeface="Calibri"/>
              </a:rPr>
              <a:t>Live two-account isolation test — </a:t>
            </a:r>
            <a:r>
              <a:rPr sz="1747" b="1" i="0">
                <a:solidFill>
                  <a:srgbClr val="1E40AF"/>
                </a:solidFill>
                <a:latin typeface="Calibri"/>
              </a:rPr>
              <a:t>26 passed, 0 failed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87469"/>
            <a:ext cx="11057839" cy="2691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63" b="1">
                <a:solidFill>
                  <a:srgbClr val="2563EB"/>
                </a:solidFill>
              </a:rPr>
              <a:t>•  </a:t>
            </a:r>
            <a:r>
              <a:rPr sz="1563" b="0" i="0">
                <a:solidFill>
                  <a:srgbClr val="0F172A"/>
                </a:solidFill>
                <a:latin typeface="Calibri"/>
              </a:rPr>
              <a:t>A new user's library is empty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56668"/>
            <a:ext cx="11057839" cy="2691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63" b="1">
                <a:solidFill>
                  <a:srgbClr val="2563EB"/>
                </a:solidFill>
              </a:rPr>
              <a:t>•  </a:t>
            </a:r>
            <a:r>
              <a:rPr sz="1563" b="0" i="0">
                <a:solidFill>
                  <a:srgbClr val="0F172A"/>
                </a:solidFill>
                <a:latin typeface="Calibri"/>
              </a:rPr>
              <a:t>User B cannot read, delete, or review User A's paper (404 — existence is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25867"/>
            <a:ext cx="11057839" cy="2691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63" b="1">
                <a:solidFill>
                  <a:srgbClr val="2563EB"/>
                </a:solidFill>
              </a:rPr>
              <a:t>•  </a:t>
            </a:r>
            <a:r>
              <a:rPr sz="1563" b="0" i="0">
                <a:solidFill>
                  <a:srgbClr val="0F172A"/>
                </a:solidFill>
                <a:latin typeface="Calibri"/>
              </a:rPr>
              <a:t>disclosed)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95066"/>
            <a:ext cx="11057839" cy="2691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63" b="1">
                <a:solidFill>
                  <a:srgbClr val="2563EB"/>
                </a:solidFill>
              </a:rPr>
              <a:t>•  </a:t>
            </a:r>
            <a:r>
              <a:rPr sz="1563" b="1" i="0">
                <a:solidFill>
                  <a:srgbClr val="0F172A"/>
                </a:solidFill>
                <a:latin typeface="Calibri"/>
              </a:rPr>
              <a:t>PostgREST with the browser's own key returns ZERO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55705"/>
            <a:ext cx="11057839" cy="5779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472" b="0" i="0">
                <a:solidFill>
                  <a:srgbClr val="0F172A"/>
                </a:solidFill>
                <a:latin typeface="Calibri"/>
              </a:rPr>
              <a:t>That last check bypasses the API entirely. Isolation is a </a:t>
            </a:r>
            <a:r>
              <a:rPr sz="1472" b="1" i="0">
                <a:solidFill>
                  <a:srgbClr val="0F172A"/>
                </a:solidFill>
                <a:latin typeface="Calibri"/>
              </a:rPr>
              <a:t>database</a:t>
            </a:r>
            <a:r>
              <a:rPr sz="1472" b="0" i="0">
                <a:solidFill>
                  <a:srgbClr val="0F172A"/>
                </a:solidFill>
                <a:latin typeface="Calibri"/>
              </a:rPr>
              <a:t> guarantee, not an application behaviour.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533605"/>
            <a:ext cx="11057839" cy="370149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747" b="1" i="0">
                <a:solidFill>
                  <a:srgbClr val="1E40AF"/>
                </a:solidFill>
                <a:latin typeface="Calibri"/>
              </a:rPr>
              <a:t>Cache — verified by four independent signals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3903754"/>
          <a:ext cx="11057839" cy="1413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353324">
                <a:tc>
                  <a:txBody>
                    <a:bodyPr wrap="square"/>
                    <a:lstStyle/>
                    <a:p>
                      <a:pPr algn="l"/>
                      <a:r>
                        <a:rPr sz="1380" b="1" i="0">
                          <a:solidFill>
                            <a:srgbClr val="1E40AF"/>
                          </a:solidFill>
                          <a:latin typeface="Calibri"/>
                        </a:rPr>
                        <a:t>Request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80" b="1" i="0">
                          <a:solidFill>
                            <a:srgbClr val="1E40A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80" b="1" i="0">
                          <a:solidFill>
                            <a:srgbClr val="1E40AF"/>
                          </a:solidFill>
                          <a:latin typeface="Calibri"/>
                        </a:rPr>
                        <a:t>Model called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</a:tr>
              <a:tr h="353324">
                <a:tc>
                  <a:txBody>
                    <a:bodyPr wrap="square"/>
                    <a:lstStyle/>
                    <a:p>
                      <a:pPr algn="l"/>
                      <a:r>
                        <a:rPr sz="1380" b="0" i="0">
                          <a:solidFill>
                            <a:srgbClr val="0F172A"/>
                          </a:solidFill>
                          <a:latin typeface="Calibri"/>
                        </a:rPr>
                        <a:t>First upload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80" b="0" i="0">
                          <a:solidFill>
                            <a:srgbClr val="0F172A"/>
                          </a:solidFill>
                          <a:latin typeface="Calibri"/>
                        </a:rPr>
                        <a:t>32.4 s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80" b="0" i="0">
                          <a:solidFill>
                            <a:srgbClr val="0F17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53324">
                <a:tc>
                  <a:txBody>
                    <a:bodyPr wrap="square"/>
                    <a:lstStyle/>
                    <a:p>
                      <a:pPr algn="l"/>
                      <a:r>
                        <a:rPr sz="1380" b="0" i="0">
                          <a:solidFill>
                            <a:srgbClr val="0F172A"/>
                          </a:solidFill>
                          <a:latin typeface="Calibri"/>
                        </a:rPr>
                        <a:t>Same paper, same user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80" b="0" i="0">
                          <a:solidFill>
                            <a:srgbClr val="0F172A"/>
                          </a:solidFill>
                          <a:latin typeface="Calibri"/>
                        </a:rPr>
                        <a:t>3.2 s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80" b="1" i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53324">
                <a:tc>
                  <a:txBody>
                    <a:bodyPr wrap="square"/>
                    <a:lstStyle/>
                    <a:p>
                      <a:pPr algn="l"/>
                      <a:r>
                        <a:rPr sz="1380" b="0" i="0">
                          <a:solidFill>
                            <a:srgbClr val="0F172A"/>
                          </a:solidFill>
                          <a:latin typeface="Calibri"/>
                        </a:rPr>
                        <a:t>Same paper, </a:t>
                      </a:r>
                      <a:r>
                        <a:rPr sz="1380" b="1" i="0">
                          <a:solidFill>
                            <a:srgbClr val="0F172A"/>
                          </a:solidFill>
                          <a:latin typeface="Calibri"/>
                        </a:rPr>
                        <a:t>different user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80" b="0" i="0">
                          <a:solidFill>
                            <a:srgbClr val="0F172A"/>
                          </a:solidFill>
                          <a:latin typeface="Calibri"/>
                        </a:rPr>
                        <a:t>2.7 s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80" b="1" i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66928" y="5481642"/>
            <a:ext cx="11057839" cy="577900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472" b="0" i="0">
                <a:solidFill>
                  <a:srgbClr val="0F172A"/>
                </a:solidFill>
                <a:latin typeface="Consolas"/>
              </a:rPr>
              <a:t>processing_time_ms</a:t>
            </a:r>
            <a:r>
              <a:rPr sz="1472" b="0" i="0">
                <a:solidFill>
                  <a:srgbClr val="0F172A"/>
                </a:solidFill>
                <a:latin typeface="Calibri"/>
              </a:rPr>
              <a:t> stays the </a:t>
            </a:r>
            <a:r>
              <a:rPr sz="1472" b="0" i="1">
                <a:solidFill>
                  <a:srgbClr val="0F172A"/>
                </a:solidFill>
                <a:latin typeface="Calibri"/>
              </a:rPr>
              <a:t>original</a:t>
            </a:r>
            <a:r>
              <a:rPr sz="1472" b="0" i="0">
                <a:solidFill>
                  <a:srgbClr val="0F172A"/>
                </a:solidFill>
                <a:latin typeface="Calibri"/>
              </a:rPr>
              <a:t> figure — the signal a fast response cannot fake.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9605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Honest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9DB8E8"/>
                </a:solidFill>
                <a:latin typeface="Calibri"/>
              </a:rPr>
              <a:t>13/14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17320"/>
          <a:ext cx="1105783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E40A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T="18288" marB="18288" marL="73152" marR="73152" anchor="ctr">
                    <a:solidFill>
                      <a:srgbClr val="E8EE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No ground truth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We count what the system produced, not whether it is </a:t>
                      </a:r>
                      <a:r>
                        <a:rPr sz="1500" b="0" i="1">
                          <a:solidFill>
                            <a:srgbClr val="0F172A"/>
                          </a:solidFill>
                          <a:latin typeface="Calibri"/>
                        </a:rPr>
                        <a:t>right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Effectively single-provider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Redundancy is architectural, not actual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Insufficient-evidence path never triggered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0/10 runs — the key safeguard is untested by this corpus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5 papers, one discipline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Nothing established outside arXiv cs.CL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~100 s per new analysis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A real usability barrier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No OCR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Scanned papers are rejected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0F172A"/>
                          </a:solidFill>
                          <a:latin typeface="Calibri"/>
                        </a:rPr>
                        <a:t>5-second sign-out window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0F172A"/>
                          </a:solidFill>
                          <a:latin typeface="Calibri"/>
                        </a:rPr>
                        <a:t>A revoked token works for ≤5 s (measured: 6.1 s)</a:t>
                      </a:r>
                    </a:p>
                  </a:txBody>
                  <a:tcPr marT="18288" marB="18288"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654296"/>
            <a:ext cx="11057839" cy="786384"/>
          </a:xfrm>
          <a:prstGeom prst="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654296"/>
            <a:ext cx="54864" cy="7863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654296"/>
            <a:ext cx="10856671" cy="786384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700" b="0" i="0">
                <a:solidFill>
                  <a:srgbClr val="1E40AF"/>
                </a:solidFill>
                <a:latin typeface="Calibri"/>
              </a:rPr>
              <a:t>Two of six objectives are only partially achieved — and in both cases because the evaluation </a:t>
            </a:r>
            <a:r>
              <a:rPr sz="1700" b="1" i="0">
                <a:solidFill>
                  <a:srgbClr val="1E40AF"/>
                </a:solidFill>
                <a:latin typeface="Calibri"/>
              </a:rPr>
              <a:t>revealed</a:t>
            </a:r>
            <a:r>
              <a:rPr sz="1700" b="0" i="0">
                <a:solidFill>
                  <a:srgbClr val="1E40AF"/>
                </a:solidFill>
                <a:latin typeface="Calibri"/>
              </a:rPr>
              <a:t> something, not because work was skipped.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99605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 and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38404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9DB8E8"/>
                </a:solidFill>
                <a:latin typeface="Calibri"/>
              </a:rPr>
              <a:t>14/14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11057839" cy="38624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823" b="1" i="0">
                <a:solidFill>
                  <a:srgbClr val="1E40AF"/>
                </a:solidFill>
                <a:latin typeface="Calibri"/>
              </a:rPr>
              <a:t>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03562"/>
            <a:ext cx="11057839" cy="599846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536" b="0" i="0">
                <a:solidFill>
                  <a:srgbClr val="0F172A"/>
                </a:solidFill>
                <a:latin typeface="Calibri"/>
              </a:rPr>
              <a:t>A deployed system meeting all five requirements, with grounding enforced structurally, isolation enforced by PostgreSQL, and provenance recorded per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03408"/>
            <a:ext cx="11057839" cy="38624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823" b="1" i="0">
                <a:solidFill>
                  <a:srgbClr val="1E40AF"/>
                </a:solidFill>
                <a:latin typeface="Calibri"/>
              </a:rPr>
              <a:t>Next, in order of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89650"/>
            <a:ext cx="11057839" cy="280903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632" b="1">
                <a:solidFill>
                  <a:srgbClr val="2563EB"/>
                </a:solidFill>
              </a:rPr>
              <a:t>•  </a:t>
            </a:r>
            <a:r>
              <a:rPr sz="1632" b="1" i="0">
                <a:solidFill>
                  <a:srgbClr val="0F172A"/>
                </a:solidFill>
                <a:latin typeface="Calibri"/>
              </a:rPr>
              <a:t>Ground-truth evaluation</a:t>
            </a:r>
            <a:r>
              <a:rPr sz="1632" b="0" i="0">
                <a:solidFill>
                  <a:srgbClr val="0F172A"/>
                </a:solidFill>
                <a:latin typeface="Calibri"/>
              </a:rPr>
              <a:t> — expert-annotated gaps; the only way to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70553"/>
            <a:ext cx="11057839" cy="280903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632" b="1">
                <a:solidFill>
                  <a:srgbClr val="2563EB"/>
                </a:solidFill>
              </a:rPr>
              <a:t>•  </a:t>
            </a:r>
            <a:r>
              <a:rPr sz="1632" b="0" i="0">
                <a:solidFill>
                  <a:srgbClr val="0F172A"/>
                </a:solidFill>
                <a:latin typeface="Calibri"/>
              </a:rPr>
              <a:t>"produced 9 gaps" into "found the right gaps"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351456"/>
            <a:ext cx="11057839" cy="280903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632" b="1">
                <a:solidFill>
                  <a:srgbClr val="2563EB"/>
                </a:solidFill>
              </a:rPr>
              <a:t>•  </a:t>
            </a:r>
            <a:r>
              <a:rPr sz="1632" b="1" i="0">
                <a:solidFill>
                  <a:srgbClr val="0F172A"/>
                </a:solidFill>
                <a:latin typeface="Calibri"/>
              </a:rPr>
              <a:t>Restore real redundancy</a:t>
            </a:r>
            <a:r>
              <a:rPr sz="1632" b="0" i="0">
                <a:solidFill>
                  <a:srgbClr val="0F172A"/>
                </a:solidFill>
                <a:latin typeface="Calibri"/>
              </a:rPr>
              <a:t> — a second provider that can accept a full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632359"/>
            <a:ext cx="11057839" cy="280903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632" b="1">
                <a:solidFill>
                  <a:srgbClr val="2563EB"/>
                </a:solidFill>
              </a:rPr>
              <a:t>•  </a:t>
            </a:r>
            <a:r>
              <a:rPr sz="1632" b="1" i="0">
                <a:solidFill>
                  <a:srgbClr val="0F172A"/>
                </a:solidFill>
                <a:latin typeface="Calibri"/>
              </a:rPr>
              <a:t>Deliberately trigger insufficient evidence</a:t>
            </a:r>
            <a:r>
              <a:rPr sz="1632" b="0" i="0">
                <a:solidFill>
                  <a:srgbClr val="0F172A"/>
                </a:solidFill>
                <a:latin typeface="Calibri"/>
              </a:rPr>
              <a:t> — test the safeguard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913262"/>
            <a:ext cx="11057839" cy="280903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632" b="1">
                <a:solidFill>
                  <a:srgbClr val="2563EB"/>
                </a:solidFill>
              </a:rPr>
              <a:t>•  </a:t>
            </a:r>
            <a:r>
              <a:rPr sz="1632" b="0" i="0">
                <a:solidFill>
                  <a:srgbClr val="0F172A"/>
                </a:solidFill>
                <a:latin typeface="Calibri"/>
              </a:rPr>
              <a:t>Objective 2 rests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194165"/>
            <a:ext cx="11057839" cy="280903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632" b="1">
                <a:solidFill>
                  <a:srgbClr val="2563EB"/>
                </a:solidFill>
              </a:rPr>
              <a:t>•  </a:t>
            </a:r>
            <a:r>
              <a:rPr sz="1632" b="0" i="0">
                <a:solidFill>
                  <a:srgbClr val="0F172A"/>
                </a:solidFill>
                <a:latin typeface="Calibri"/>
              </a:rPr>
              <a:t>Stream partial results · OCR · evaluate outside cs.CL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566508"/>
            <a:ext cx="11057839" cy="386242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823" b="1" i="0">
                <a:solidFill>
                  <a:srgbClr val="1E40AF"/>
                </a:solidFill>
                <a:latin typeface="Calibri"/>
              </a:rPr>
              <a:t>The lesson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952750"/>
            <a:ext cx="11057839" cy="760048"/>
          </a:xfrm>
          <a:prstGeom prst="rect">
            <a:avLst/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952750"/>
            <a:ext cx="54864" cy="760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952750"/>
            <a:ext cx="10856671" cy="760048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632" b="0" i="0">
                <a:solidFill>
                  <a:srgbClr val="1E40AF"/>
                </a:solidFill>
                <a:latin typeface="Calibri"/>
              </a:rPr>
              <a:t>The most valuable results came from checking what the system </a:t>
            </a:r>
            <a:r>
              <a:rPr sz="1632" b="1" i="0">
                <a:solidFill>
                  <a:srgbClr val="1E40AF"/>
                </a:solidFill>
                <a:latin typeface="Calibri"/>
              </a:rPr>
              <a:t>actually did</a:t>
            </a:r>
            <a:r>
              <a:rPr sz="1632" b="0" i="0">
                <a:solidFill>
                  <a:srgbClr val="1E40AF"/>
                </a:solidFill>
                <a:latin typeface="Calibri"/>
              </a:rPr>
              <a:t>, rather than trusting what the code implied it would 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822526"/>
            <a:ext cx="11057839" cy="336499"/>
          </a:xfrm>
          <a:prstGeom prst="rect">
            <a:avLst/>
          </a:prstGeom>
          <a:noFill/>
        </p:spPr>
        <p:txBody>
          <a:bodyPr wrap="square" lIns="54864" rIns="54864" tIns="18288" bIns="18288">
            <a:spAutoFit/>
          </a:bodyPr>
          <a:lstStyle/>
          <a:p>
            <a:pPr algn="l"/>
            <a:r>
              <a:rPr sz="1536" b="1" i="0">
                <a:solidFill>
                  <a:srgbClr val="0F172A"/>
                </a:solidFill>
                <a:latin typeface="Calibri"/>
              </a:rPr>
              <a:t>researchforge.rukon.dev</a:t>
            </a:r>
            <a:r>
              <a:rPr sz="1536" b="0" i="0">
                <a:solidFill>
                  <a:srgbClr val="0F172A"/>
                </a:solidFill>
                <a:latin typeface="Calibri"/>
              </a:rPr>
              <a:t> ·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